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64" r:id="rId4"/>
    <p:sldId id="260" r:id="rId5"/>
    <p:sldId id="261" r:id="rId6"/>
    <p:sldId id="262" r:id="rId7"/>
    <p:sldId id="263" r:id="rId8"/>
    <p:sldId id="267" r:id="rId9"/>
    <p:sldId id="265" r:id="rId10"/>
    <p:sldId id="268" r:id="rId11"/>
    <p:sldId id="269" r:id="rId12"/>
    <p:sldId id="271" r:id="rId13"/>
    <p:sldId id="278" r:id="rId14"/>
    <p:sldId id="282" r:id="rId15"/>
    <p:sldId id="270" r:id="rId16"/>
    <p:sldId id="273" r:id="rId17"/>
    <p:sldId id="272" r:id="rId18"/>
    <p:sldId id="279" r:id="rId19"/>
    <p:sldId id="283" r:id="rId20"/>
    <p:sldId id="274" r:id="rId21"/>
    <p:sldId id="275" r:id="rId22"/>
    <p:sldId id="281" r:id="rId23"/>
    <p:sldId id="284" r:id="rId24"/>
    <p:sldId id="285" r:id="rId25"/>
    <p:sldId id="259" r:id="rId26"/>
  </p:sldIdLst>
  <p:sldSz cx="12192000" cy="6858000"/>
  <p:notesSz cx="6858000" cy="9144000"/>
  <p:embeddedFontLst>
    <p:embeddedFont>
      <p:font typeface="Algerian" panose="04020705040A02060702" pitchFamily="82" charset="0"/>
      <p:regular r:id="rId28"/>
    </p:embeddedFont>
    <p:embeddedFont>
      <p:font typeface="Calibri" panose="020F0502020204030204" pitchFamily="34" charset="0"/>
      <p:regular r:id="rId29"/>
      <p:bold r:id="rId30"/>
      <p:italic r:id="rId31"/>
      <p:boldItalic r:id="rId32"/>
    </p:embeddedFont>
    <p:embeddedFont>
      <p:font typeface="Eras Medium ITC" panose="020B0602030504020804" pitchFamily="34" charset="0"/>
      <p:regular r:id="rId33"/>
    </p:embeddedFont>
    <p:embeddedFont>
      <p:font typeface="Inter" panose="020B0604020202020204" charset="0"/>
      <p:regular r:id="rId34"/>
    </p:embeddedFont>
    <p:embeddedFont>
      <p:font typeface="Libre Baskerville" panose="020B0604020202020204" charset="0"/>
      <p:regular r:id="rId35"/>
      <p:bold r:id="rId36"/>
      <p:italic r:id="rId37"/>
    </p:embeddedFont>
    <p:embeddedFont>
      <p:font typeface="Tahoma" panose="020B0604030504040204" pitchFamily="34" charset="0"/>
      <p:regular r:id="rId38"/>
      <p:bold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0" roundtripDataSignature="AMtx7mhnFQsu0qTBRZ+C47HNp0tuHCNk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83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5961182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927828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2294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793506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7" name="Google Shape;27;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7" r:id="rId7"/>
    <p:sldLayoutId id="2147483658" r:id="rId8"/>
    <p:sldLayoutId id="214748365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185" y="0"/>
            <a:ext cx="12190815" cy="6858000"/>
          </a:xfrm>
          <a:prstGeom prst="rect">
            <a:avLst/>
          </a:prstGeom>
          <a:noFill/>
          <a:ln>
            <a:noFill/>
          </a:ln>
        </p:spPr>
      </p:pic>
      <p:sp>
        <p:nvSpPr>
          <p:cNvPr id="3" name="TextBox 2"/>
          <p:cNvSpPr txBox="1"/>
          <p:nvPr/>
        </p:nvSpPr>
        <p:spPr>
          <a:xfrm>
            <a:off x="1747320" y="3956365"/>
            <a:ext cx="8528363" cy="1508105"/>
          </a:xfrm>
          <a:prstGeom prst="rect">
            <a:avLst/>
          </a:prstGeom>
          <a:noFill/>
        </p:spPr>
        <p:txBody>
          <a:bodyPr wrap="square" rtlCol="0">
            <a:spAutoFit/>
          </a:bodyPr>
          <a:lstStyle/>
          <a:p>
            <a:pPr lvl="0" algn="ctr"/>
            <a:r>
              <a:rPr lang="en-GB" sz="2400" b="1" dirty="0">
                <a:solidFill>
                  <a:schemeClr val="tx1">
                    <a:lumMod val="95000"/>
                    <a:lumOff val="5000"/>
                  </a:schemeClr>
                </a:solidFill>
                <a:latin typeface="Eras Medium ITC" panose="020B0602030504020804" pitchFamily="34" charset="0"/>
                <a:cs typeface="Times New Roman" panose="02020603050405020304" pitchFamily="18" charset="0"/>
              </a:rPr>
              <a:t>Smart TV Market Insights Through Web Scraping and </a:t>
            </a:r>
          </a:p>
          <a:p>
            <a:pPr lvl="0" algn="ctr"/>
            <a:r>
              <a:rPr lang="en-GB" sz="2400" b="1" dirty="0">
                <a:solidFill>
                  <a:schemeClr val="tx1">
                    <a:lumMod val="95000"/>
                    <a:lumOff val="5000"/>
                  </a:schemeClr>
                </a:solidFill>
                <a:latin typeface="Eras Medium ITC" panose="020B0602030504020804" pitchFamily="34" charset="0"/>
                <a:cs typeface="Times New Roman" panose="02020603050405020304" pitchFamily="18" charset="0"/>
              </a:rPr>
              <a:t>Data Analysis</a:t>
            </a:r>
          </a:p>
          <a:p>
            <a:pPr lvl="0" algn="ctr"/>
            <a:endParaRPr lang="en-US" i="1" dirty="0">
              <a:latin typeface="Eras Medium ITC" panose="020B0602030504020804" pitchFamily="34" charset="0"/>
              <a:cs typeface="Times New Roman" panose="02020603050405020304" pitchFamily="18" charset="0"/>
            </a:endParaRPr>
          </a:p>
          <a:p>
            <a:pPr lvl="0" algn="ctr"/>
            <a:r>
              <a:rPr lang="en-GB" sz="1600" b="1" i="1" dirty="0">
                <a:solidFill>
                  <a:srgbClr val="CC0000"/>
                </a:solidFill>
                <a:latin typeface="Eras Medium ITC" panose="020B0602030504020804" pitchFamily="34" charset="0"/>
                <a:cs typeface="Times New Roman" panose="02020603050405020304" pitchFamily="18" charset="0"/>
              </a:rPr>
              <a:t>A Comprehensive Analysis of Smart TV Market Dynamics Based on Flipkart Data</a:t>
            </a:r>
            <a:endParaRPr lang="en-US" sz="1600" b="1" i="1" dirty="0">
              <a:solidFill>
                <a:srgbClr val="CC0000"/>
              </a:solidFill>
              <a:latin typeface="Eras Medium ITC" panose="020B0602030504020804" pitchFamily="34" charset="0"/>
              <a:cs typeface="Times New Roman" panose="02020603050405020304" pitchFamily="18" charset="0"/>
            </a:endParaRPr>
          </a:p>
          <a:p>
            <a:endParaRPr lang="en-IN" dirty="0">
              <a:latin typeface="Eras Medium ITC" panose="020B0602030504020804" pitchFamily="34" charset="0"/>
              <a:cs typeface="Times New Roman" panose="02020603050405020304" pitchFamily="18" charset="0"/>
            </a:endParaRPr>
          </a:p>
        </p:txBody>
      </p:sp>
      <p:sp>
        <p:nvSpPr>
          <p:cNvPr id="4" name="TextBox 3"/>
          <p:cNvSpPr txBox="1"/>
          <p:nvPr/>
        </p:nvSpPr>
        <p:spPr>
          <a:xfrm>
            <a:off x="8410669" y="5411450"/>
            <a:ext cx="3005749" cy="892552"/>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Presented by: </a:t>
            </a:r>
          </a:p>
          <a:p>
            <a:r>
              <a:rPr lang="en-US" sz="1800" i="1" dirty="0">
                <a:latin typeface="Times New Roman" panose="02020603050405020304" pitchFamily="18" charset="0"/>
                <a:cs typeface="Times New Roman" panose="02020603050405020304" pitchFamily="18" charset="0"/>
              </a:rPr>
              <a:t>Bhargavi </a:t>
            </a:r>
            <a:r>
              <a:rPr lang="en-US" sz="1800" i="1">
                <a:latin typeface="Times New Roman" panose="02020603050405020304" pitchFamily="18" charset="0"/>
                <a:cs typeface="Times New Roman" panose="02020603050405020304" pitchFamily="18" charset="0"/>
              </a:rPr>
              <a:t>korapathi</a:t>
            </a:r>
            <a:endParaRPr lang="en-US" sz="1800" i="1"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a:extLst>
              <a:ext uri="{FF2B5EF4-FFF2-40B4-BE49-F238E27FC236}">
                <a16:creationId xmlns:a16="http://schemas.microsoft.com/office/drawing/2014/main" id="{4013C385-B5D0-4597-AD67-99530B1A77C6}"/>
              </a:ext>
            </a:extLst>
          </p:cNvPr>
          <p:cNvSpPr txBox="1"/>
          <p:nvPr/>
        </p:nvSpPr>
        <p:spPr>
          <a:xfrm>
            <a:off x="557214" y="521314"/>
            <a:ext cx="5472112" cy="646331"/>
          </a:xfrm>
          <a:prstGeom prst="rect">
            <a:avLst/>
          </a:prstGeom>
          <a:noFill/>
        </p:spPr>
        <p:txBody>
          <a:bodyPr wrap="square" rtlCol="0">
            <a:spAutoFit/>
          </a:bodyPr>
          <a:lstStyle/>
          <a:p>
            <a:r>
              <a:rPr lang="en-US" sz="3600" b="1" dirty="0">
                <a:solidFill>
                  <a:srgbClr val="C00000"/>
                </a:solidFill>
                <a:latin typeface="Algerian" panose="04020705040A02060702" pitchFamily="82" charset="0"/>
                <a:cs typeface="Times New Roman" panose="02020603050405020304" pitchFamily="18" charset="0"/>
              </a:rPr>
              <a:t>INTRODUCTION</a:t>
            </a:r>
          </a:p>
        </p:txBody>
      </p:sp>
      <p:sp>
        <p:nvSpPr>
          <p:cNvPr id="3" name="TextBox 2">
            <a:extLst>
              <a:ext uri="{FF2B5EF4-FFF2-40B4-BE49-F238E27FC236}">
                <a16:creationId xmlns:a16="http://schemas.microsoft.com/office/drawing/2014/main" id="{3C72A81C-8F03-4C98-B7D0-CF08C17F6B32}"/>
              </a:ext>
            </a:extLst>
          </p:cNvPr>
          <p:cNvSpPr txBox="1"/>
          <p:nvPr/>
        </p:nvSpPr>
        <p:spPr>
          <a:xfrm>
            <a:off x="557214" y="1443038"/>
            <a:ext cx="5029199" cy="5016758"/>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The Smart TV market in India has become increasingly competitive, with numerous brands offering a wide range of models differing in size, technology, and price. Despite this variety, customers often face challenges in identifying the best value for their budget due to the overwhelming number of options and inconsistent feature listings. From a business analytics standpoint, understanding how different product attributes such as display type, resolution, and sound output affect pricing and customer satisfaction is crucial. This project aims to bridge that gap by analyzing Smart TV data from Flipkart to derive meaningful insights into market trends, feature impact, and consumer preference</a:t>
            </a:r>
          </a:p>
        </p:txBody>
      </p:sp>
      <p:pic>
        <p:nvPicPr>
          <p:cNvPr id="5" name="Picture Placeholder 4">
            <a:extLst>
              <a:ext uri="{FF2B5EF4-FFF2-40B4-BE49-F238E27FC236}">
                <a16:creationId xmlns:a16="http://schemas.microsoft.com/office/drawing/2014/main" id="{F1C5D748-5A2F-471D-8315-626569D64DFE}"/>
              </a:ext>
            </a:extLst>
          </p:cNvPr>
          <p:cNvPicPr>
            <a:picLocks noGrp="1" noChangeAspect="1"/>
          </p:cNvPicPr>
          <p:nvPr>
            <p:ph type="pic" idx="2"/>
          </p:nvPr>
        </p:nvPicPr>
        <p:blipFill>
          <a:blip r:embed="rId3"/>
          <a:srcRect t="3216" b="3216"/>
          <a:stretch>
            <a:fillRect/>
          </a:stretch>
        </p:blipFill>
        <p:spPr>
          <a:xfrm>
            <a:off x="5868988" y="400050"/>
            <a:ext cx="6046787" cy="5657850"/>
          </a:xfrm>
        </p:spPr>
      </p:pic>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6670AA4-D69D-41DB-B5C8-BD99A21F9F68}"/>
              </a:ext>
            </a:extLst>
          </p:cNvPr>
          <p:cNvSpPr>
            <a:spLocks noGrp="1"/>
          </p:cNvSpPr>
          <p:nvPr>
            <p:ph type="title"/>
          </p:nvPr>
        </p:nvSpPr>
        <p:spPr>
          <a:xfrm>
            <a:off x="838200" y="3065463"/>
            <a:ext cx="10515600" cy="1325563"/>
          </a:xfrm>
        </p:spPr>
        <p:txBody>
          <a:bodyPr>
            <a:normAutofit/>
          </a:bodyPr>
          <a:lstStyle/>
          <a:p>
            <a:r>
              <a:rPr lang="en-US" sz="5400" dirty="0">
                <a:solidFill>
                  <a:srgbClr val="C00000"/>
                </a:solidFill>
                <a:latin typeface="Algerian" panose="04020705040A02060702" pitchFamily="82" charset="0"/>
              </a:rPr>
              <a:t>AGENDA</a:t>
            </a:r>
          </a:p>
        </p:txBody>
      </p:sp>
    </p:spTree>
    <p:extLst>
      <p:ext uri="{BB962C8B-B14F-4D97-AF65-F5344CB8AC3E}">
        <p14:creationId xmlns:p14="http://schemas.microsoft.com/office/powerpoint/2010/main" val="261264276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C2518-7E99-4973-BB37-1F56F1ADCAD3}"/>
              </a:ext>
            </a:extLst>
          </p:cNvPr>
          <p:cNvSpPr>
            <a:spLocks noGrp="1"/>
          </p:cNvSpPr>
          <p:nvPr>
            <p:ph type="title"/>
          </p:nvPr>
        </p:nvSpPr>
        <p:spPr>
          <a:xfrm>
            <a:off x="836613" y="457200"/>
            <a:ext cx="5578475" cy="647323"/>
          </a:xfrm>
        </p:spPr>
        <p:txBody>
          <a:bodyPr>
            <a:normAutofit fontScale="90000"/>
          </a:bodyPr>
          <a:lstStyle/>
          <a:p>
            <a:pPr algn="ctr"/>
            <a:r>
              <a:rPr lang="en-US" sz="3600" dirty="0">
                <a:solidFill>
                  <a:srgbClr val="C00000"/>
                </a:solidFill>
                <a:latin typeface="Algerian" panose="04020705040A02060702" pitchFamily="82" charset="0"/>
              </a:rPr>
              <a:t>Objective of the Project</a:t>
            </a:r>
          </a:p>
        </p:txBody>
      </p:sp>
      <p:sp>
        <p:nvSpPr>
          <p:cNvPr id="3" name="Text Placeholder 2">
            <a:extLst>
              <a:ext uri="{FF2B5EF4-FFF2-40B4-BE49-F238E27FC236}">
                <a16:creationId xmlns:a16="http://schemas.microsoft.com/office/drawing/2014/main" id="{CDB733D9-FB34-44F9-A601-1F16A19730E5}"/>
              </a:ext>
            </a:extLst>
          </p:cNvPr>
          <p:cNvSpPr>
            <a:spLocks noGrp="1"/>
          </p:cNvSpPr>
          <p:nvPr>
            <p:ph type="body" idx="1"/>
          </p:nvPr>
        </p:nvSpPr>
        <p:spPr>
          <a:xfrm>
            <a:off x="836613" y="1262393"/>
            <a:ext cx="5681882" cy="4930178"/>
          </a:xfrm>
        </p:spPr>
        <p:txBody>
          <a:bodyPr>
            <a:noAutofit/>
          </a:bodyPr>
          <a:lstStyle/>
          <a:p>
            <a:pPr marL="114300" indent="0" algn="just">
              <a:buNone/>
            </a:pPr>
            <a:r>
              <a:rPr lang="en-US" sz="2000" dirty="0">
                <a:latin typeface="Times New Roman" panose="02020603050405020304" pitchFamily="18" charset="0"/>
                <a:cs typeface="Times New Roman" panose="02020603050405020304" pitchFamily="18" charset="0"/>
              </a:rPr>
              <a:t>The primary objective of this project is to extract, clean, and analyze Smart TV product data from Flipkart using Python-based web scraping techniques. Through data analysis, we aim to explore how various product features influence price and customer ratings, identify dominant display technologies, and examine pricing distribution across different market segments. Additionally, the study seeks to uncover trends in product launches and sound output configurations to better understand the current landscape of the Smart TV market. The insights generated can help consumers make informed decisions and assist businesses in understanding feature–price dynamics and customer expectations.</a:t>
            </a:r>
          </a:p>
        </p:txBody>
      </p:sp>
      <p:pic>
        <p:nvPicPr>
          <p:cNvPr id="1028" name="Picture 4" descr="Data Analysis That Help Decision-Makers ...">
            <a:extLst>
              <a:ext uri="{FF2B5EF4-FFF2-40B4-BE49-F238E27FC236}">
                <a16:creationId xmlns:a16="http://schemas.microsoft.com/office/drawing/2014/main" id="{5C00E767-7BE0-4D5B-88C4-C83A19FA2B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05712" y="1500190"/>
            <a:ext cx="3538537" cy="35718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650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58A060D-F521-4368-97B7-B486E99EC995}"/>
              </a:ext>
            </a:extLst>
          </p:cNvPr>
          <p:cNvSpPr>
            <a:spLocks noGrp="1"/>
          </p:cNvSpPr>
          <p:nvPr>
            <p:ph type="title"/>
          </p:nvPr>
        </p:nvSpPr>
        <p:spPr/>
        <p:txBody>
          <a:bodyPr>
            <a:noAutofit/>
          </a:bodyPr>
          <a:lstStyle/>
          <a:p>
            <a:br>
              <a:rPr lang="en-US" sz="3600" b="1" dirty="0">
                <a:solidFill>
                  <a:srgbClr val="C00000"/>
                </a:solidFill>
                <a:latin typeface="Algerian" panose="04020705040A02060702" pitchFamily="82" charset="0"/>
              </a:rPr>
            </a:br>
            <a:r>
              <a:rPr lang="en-US" sz="3200" b="1" dirty="0">
                <a:solidFill>
                  <a:srgbClr val="C00000"/>
                </a:solidFill>
                <a:latin typeface="Algerian" panose="04020705040A02060702" pitchFamily="82" charset="0"/>
              </a:rPr>
              <a:t>Web Scraping Methodology: Process                   Overview</a:t>
            </a:r>
            <a:br>
              <a:rPr lang="en-US" sz="3600" b="1" dirty="0">
                <a:solidFill>
                  <a:srgbClr val="C00000"/>
                </a:solidFill>
                <a:latin typeface="Algerian" panose="04020705040A02060702" pitchFamily="82" charset="0"/>
              </a:rPr>
            </a:br>
            <a:endParaRPr lang="en-US" sz="3600" dirty="0">
              <a:solidFill>
                <a:srgbClr val="C00000"/>
              </a:solidFill>
              <a:latin typeface="Algerian" panose="04020705040A02060702" pitchFamily="82" charset="0"/>
            </a:endParaRPr>
          </a:p>
        </p:txBody>
      </p:sp>
      <p:sp>
        <p:nvSpPr>
          <p:cNvPr id="6" name="Text Placeholder 5">
            <a:extLst>
              <a:ext uri="{FF2B5EF4-FFF2-40B4-BE49-F238E27FC236}">
                <a16:creationId xmlns:a16="http://schemas.microsoft.com/office/drawing/2014/main" id="{CAF945FE-BCCB-4F13-B88A-4F16ABF53C68}"/>
              </a:ext>
            </a:extLst>
          </p:cNvPr>
          <p:cNvSpPr>
            <a:spLocks noGrp="1"/>
          </p:cNvSpPr>
          <p:nvPr>
            <p:ph type="body" idx="1"/>
          </p:nvPr>
        </p:nvSpPr>
        <p:spPr>
          <a:xfrm>
            <a:off x="838200" y="1690688"/>
            <a:ext cx="7825966" cy="4800647"/>
          </a:xfrm>
        </p:spPr>
        <p:txBody>
          <a:bodyPr>
            <a:normAutofit/>
          </a:bodyPr>
          <a:lstStyle/>
          <a:p>
            <a:pPr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Target Website</a:t>
            </a:r>
          </a:p>
          <a:p>
            <a:pPr marL="114300" indent="0" algn="just">
              <a:buNone/>
            </a:pPr>
            <a:r>
              <a:rPr lang="en-US" sz="2000" dirty="0">
                <a:latin typeface="Times New Roman" panose="02020603050405020304" pitchFamily="18" charset="0"/>
                <a:cs typeface="Times New Roman" panose="02020603050405020304" pitchFamily="18" charset="0"/>
              </a:rPr>
              <a:t>	Flipkart Smart TV Product Listings</a:t>
            </a:r>
          </a:p>
          <a:p>
            <a:pPr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Libraries Used</a:t>
            </a:r>
          </a:p>
          <a:p>
            <a:pPr marL="114300" indent="0" algn="just">
              <a:buNone/>
            </a:pPr>
            <a:r>
              <a:rPr lang="en-US" sz="2000" dirty="0">
                <a:latin typeface="Times New Roman" panose="02020603050405020304" pitchFamily="18" charset="0"/>
                <a:cs typeface="Times New Roman" panose="02020603050405020304" pitchFamily="18" charset="0"/>
              </a:rPr>
              <a:t>	requests, BeautifulSoup → for extracting and parsing web data</a:t>
            </a:r>
          </a:p>
          <a:p>
            <a:pPr marL="114300" indent="0" algn="just">
              <a:buNone/>
            </a:pPr>
            <a:r>
              <a:rPr lang="en-US" sz="2000" dirty="0">
                <a:latin typeface="Times New Roman" panose="02020603050405020304" pitchFamily="18" charset="0"/>
                <a:cs typeface="Times New Roman" panose="02020603050405020304" pitchFamily="18" charset="0"/>
              </a:rPr>
              <a:t>	pandas, numpy → for structuring and cleaning data</a:t>
            </a:r>
          </a:p>
          <a:p>
            <a:pPr marL="114300" indent="0" algn="just">
              <a:buNone/>
            </a:pPr>
            <a:r>
              <a:rPr lang="en-US" sz="2000" dirty="0">
                <a:latin typeface="Times New Roman" panose="02020603050405020304" pitchFamily="18" charset="0"/>
                <a:cs typeface="Times New Roman" panose="02020603050405020304" pitchFamily="18" charset="0"/>
              </a:rPr>
              <a:t>	re → for regular expressions and text cleaning</a:t>
            </a:r>
          </a:p>
          <a:p>
            <a:pPr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 Technology Used:</a:t>
            </a:r>
          </a:p>
          <a:p>
            <a:pPr marL="114300" indent="0" algn="just">
              <a:buNone/>
            </a:pPr>
            <a:r>
              <a:rPr lang="en-US" sz="2000" b="1" dirty="0">
                <a:latin typeface="Times New Roman" panose="02020603050405020304" pitchFamily="18" charset="0"/>
                <a:cs typeface="Times New Roman" panose="02020603050405020304" pitchFamily="18" charset="0"/>
              </a:rPr>
              <a:t>	Programming Language: </a:t>
            </a:r>
            <a:r>
              <a:rPr lang="en-US" sz="2000" dirty="0">
                <a:latin typeface="Times New Roman" panose="02020603050405020304" pitchFamily="18" charset="0"/>
                <a:cs typeface="Times New Roman" panose="02020603050405020304" pitchFamily="18" charset="0"/>
              </a:rPr>
              <a:t>Python</a:t>
            </a:r>
          </a:p>
          <a:p>
            <a:pPr marL="114300" indent="0" algn="just">
              <a:buNone/>
            </a:pPr>
            <a:r>
              <a:rPr lang="en-US" sz="2000" b="1" dirty="0">
                <a:latin typeface="Times New Roman" panose="02020603050405020304" pitchFamily="18" charset="0"/>
                <a:cs typeface="Times New Roman" panose="02020603050405020304" pitchFamily="18" charset="0"/>
              </a:rPr>
              <a:t>	Tools: </a:t>
            </a:r>
            <a:r>
              <a:rPr lang="en-US" sz="2000" dirty="0">
                <a:latin typeface="Times New Roman" panose="02020603050405020304" pitchFamily="18" charset="0"/>
                <a:cs typeface="Times New Roman" panose="02020603050405020304" pitchFamily="18" charset="0"/>
              </a:rPr>
              <a:t>Jupyter Notebook </a:t>
            </a:r>
          </a:p>
          <a:p>
            <a:pPr marL="114300" indent="0" algn="just">
              <a:buNone/>
            </a:pPr>
            <a:r>
              <a:rPr lang="en-US" sz="2000" b="1" dirty="0">
                <a:latin typeface="Times New Roman" panose="02020603050405020304" pitchFamily="18" charset="0"/>
                <a:cs typeface="Times New Roman" panose="02020603050405020304" pitchFamily="18" charset="0"/>
              </a:rPr>
              <a:t>	Method: </a:t>
            </a:r>
            <a:r>
              <a:rPr lang="en-US" sz="2000" dirty="0">
                <a:latin typeface="Times New Roman" panose="02020603050405020304" pitchFamily="18" charset="0"/>
                <a:cs typeface="Times New Roman" panose="02020603050405020304" pitchFamily="18" charset="0"/>
              </a:rPr>
              <a:t>Automated Web Scraping with HTML Parsing</a:t>
            </a:r>
          </a:p>
          <a:p>
            <a:pPr marL="114300" indent="0" algn="just">
              <a:buNone/>
            </a:pPr>
            <a:endParaRPr lang="en-US" sz="20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393619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A57B8-C85C-4962-903C-512F7977323D}"/>
              </a:ext>
            </a:extLst>
          </p:cNvPr>
          <p:cNvSpPr>
            <a:spLocks noGrp="1"/>
          </p:cNvSpPr>
          <p:nvPr>
            <p:ph type="title"/>
          </p:nvPr>
        </p:nvSpPr>
        <p:spPr>
          <a:xfrm>
            <a:off x="838199" y="399255"/>
            <a:ext cx="10515601" cy="563563"/>
          </a:xfrm>
        </p:spPr>
        <p:txBody>
          <a:bodyPr>
            <a:normAutofit/>
          </a:bodyPr>
          <a:lstStyle/>
          <a:p>
            <a:r>
              <a:rPr lang="en-US" sz="3200" dirty="0">
                <a:solidFill>
                  <a:srgbClr val="C00000"/>
                </a:solidFill>
                <a:latin typeface="Algerian" panose="04020705040A02060702" pitchFamily="82" charset="0"/>
              </a:rPr>
              <a:t>PROCESS FOLLOWED:</a:t>
            </a:r>
          </a:p>
        </p:txBody>
      </p:sp>
      <p:sp>
        <p:nvSpPr>
          <p:cNvPr id="3" name="Text Placeholder 2">
            <a:extLst>
              <a:ext uri="{FF2B5EF4-FFF2-40B4-BE49-F238E27FC236}">
                <a16:creationId xmlns:a16="http://schemas.microsoft.com/office/drawing/2014/main" id="{878C9B24-5EE4-41EF-A79C-B35C004C54A5}"/>
              </a:ext>
            </a:extLst>
          </p:cNvPr>
          <p:cNvSpPr>
            <a:spLocks noGrp="1"/>
          </p:cNvSpPr>
          <p:nvPr>
            <p:ph type="body" idx="1"/>
          </p:nvPr>
        </p:nvSpPr>
        <p:spPr>
          <a:xfrm>
            <a:off x="838200" y="989432"/>
            <a:ext cx="10515600" cy="5242720"/>
          </a:xfrm>
        </p:spPr>
        <p:txBody>
          <a:bodyPr/>
          <a:lstStyle/>
          <a:p>
            <a:pPr marL="114300" indent="0">
              <a:buNone/>
            </a:pPr>
            <a:r>
              <a:rPr lang="en-US" dirty="0"/>
              <a:t>             </a:t>
            </a:r>
          </a:p>
          <a:p>
            <a:pPr marL="114300" indent="0">
              <a:buNone/>
            </a:pPr>
            <a:r>
              <a:rPr lang="en-US" dirty="0"/>
              <a:t>       </a:t>
            </a:r>
          </a:p>
        </p:txBody>
      </p:sp>
      <p:sp>
        <p:nvSpPr>
          <p:cNvPr id="4" name="Arrow: Pentagon 3">
            <a:extLst>
              <a:ext uri="{FF2B5EF4-FFF2-40B4-BE49-F238E27FC236}">
                <a16:creationId xmlns:a16="http://schemas.microsoft.com/office/drawing/2014/main" id="{65D631FC-EA51-4084-ADFB-B2C96AA67E09}"/>
              </a:ext>
            </a:extLst>
          </p:cNvPr>
          <p:cNvSpPr/>
          <p:nvPr/>
        </p:nvSpPr>
        <p:spPr>
          <a:xfrm>
            <a:off x="838200" y="1154906"/>
            <a:ext cx="1057275" cy="742950"/>
          </a:xfrm>
          <a:prstGeom prst="homePlat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400" dirty="0">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1</a:t>
            </a:r>
          </a:p>
        </p:txBody>
      </p:sp>
      <p:sp>
        <p:nvSpPr>
          <p:cNvPr id="5" name="TextBox 4">
            <a:extLst>
              <a:ext uri="{FF2B5EF4-FFF2-40B4-BE49-F238E27FC236}">
                <a16:creationId xmlns:a16="http://schemas.microsoft.com/office/drawing/2014/main" id="{2ADF3494-CDD9-424B-8C8C-790B4E4257DB}"/>
              </a:ext>
            </a:extLst>
          </p:cNvPr>
          <p:cNvSpPr txBox="1"/>
          <p:nvPr/>
        </p:nvSpPr>
        <p:spPr>
          <a:xfrm>
            <a:off x="2174081" y="1172438"/>
            <a:ext cx="7843838" cy="707886"/>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Identified multiple Smart TV listing pages on</a:t>
            </a:r>
            <a:r>
              <a:rPr lang="en-US" sz="2000" b="1" dirty="0">
                <a:latin typeface="Times New Roman" panose="02020603050405020304" pitchFamily="18" charset="0"/>
                <a:cs typeface="Times New Roman" panose="02020603050405020304" pitchFamily="18" charset="0"/>
              </a:rPr>
              <a:t> Flipkart </a:t>
            </a:r>
            <a:r>
              <a:rPr lang="en-US" sz="2000" dirty="0">
                <a:latin typeface="Times New Roman" panose="02020603050405020304" pitchFamily="18" charset="0"/>
                <a:cs typeface="Times New Roman" panose="02020603050405020304" pitchFamily="18" charset="0"/>
              </a:rPr>
              <a:t>to capture a wide variety of brands and models.</a:t>
            </a:r>
          </a:p>
        </p:txBody>
      </p:sp>
      <p:sp>
        <p:nvSpPr>
          <p:cNvPr id="6" name="Arrow: Pentagon 5">
            <a:extLst>
              <a:ext uri="{FF2B5EF4-FFF2-40B4-BE49-F238E27FC236}">
                <a16:creationId xmlns:a16="http://schemas.microsoft.com/office/drawing/2014/main" id="{2A32C535-666D-4071-902C-8CC3AF0F3083}"/>
              </a:ext>
            </a:extLst>
          </p:cNvPr>
          <p:cNvSpPr/>
          <p:nvPr/>
        </p:nvSpPr>
        <p:spPr>
          <a:xfrm>
            <a:off x="838199" y="2145810"/>
            <a:ext cx="1057275" cy="742950"/>
          </a:xfrm>
          <a:prstGeom prst="homePlat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400" dirty="0">
                <a:ln w="22225">
                  <a:solidFill>
                    <a:schemeClr val="accent2"/>
                  </a:solidFill>
                  <a:prstDash val="solid"/>
                </a:ln>
                <a:solidFill>
                  <a:schemeClr val="accent2">
                    <a:lumMod val="40000"/>
                    <a:lumOff val="60000"/>
                  </a:schemeClr>
                </a:solidFill>
                <a:latin typeface="Tahoma" panose="020B0604030504040204" pitchFamily="34" charset="0"/>
                <a:ea typeface="Tahoma" panose="020B0604030504040204" pitchFamily="34" charset="0"/>
                <a:cs typeface="Tahoma" panose="020B0604030504040204" pitchFamily="34" charset="0"/>
              </a:rPr>
              <a:t>2</a:t>
            </a:r>
          </a:p>
        </p:txBody>
      </p:sp>
      <p:sp>
        <p:nvSpPr>
          <p:cNvPr id="7" name="Arrow: Pentagon 6">
            <a:extLst>
              <a:ext uri="{FF2B5EF4-FFF2-40B4-BE49-F238E27FC236}">
                <a16:creationId xmlns:a16="http://schemas.microsoft.com/office/drawing/2014/main" id="{8A627037-D079-4CB0-BC0F-5868E67C1FC4}"/>
              </a:ext>
            </a:extLst>
          </p:cNvPr>
          <p:cNvSpPr/>
          <p:nvPr/>
        </p:nvSpPr>
        <p:spPr>
          <a:xfrm>
            <a:off x="838199" y="3136714"/>
            <a:ext cx="1057275" cy="742950"/>
          </a:xfrm>
          <a:prstGeom prst="homePlat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400" dirty="0">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3</a:t>
            </a:r>
          </a:p>
        </p:txBody>
      </p:sp>
      <p:sp>
        <p:nvSpPr>
          <p:cNvPr id="8" name="Arrow: Pentagon 7">
            <a:extLst>
              <a:ext uri="{FF2B5EF4-FFF2-40B4-BE49-F238E27FC236}">
                <a16:creationId xmlns:a16="http://schemas.microsoft.com/office/drawing/2014/main" id="{61C12B22-79C4-44CC-A4E7-74F434D26B5C}"/>
              </a:ext>
            </a:extLst>
          </p:cNvPr>
          <p:cNvSpPr/>
          <p:nvPr/>
        </p:nvSpPr>
        <p:spPr>
          <a:xfrm>
            <a:off x="838199" y="4131166"/>
            <a:ext cx="1057275" cy="742950"/>
          </a:xfrm>
          <a:prstGeom prst="homePlat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400" dirty="0">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4</a:t>
            </a:r>
          </a:p>
        </p:txBody>
      </p:sp>
      <p:sp>
        <p:nvSpPr>
          <p:cNvPr id="9" name="Arrow: Pentagon 8">
            <a:extLst>
              <a:ext uri="{FF2B5EF4-FFF2-40B4-BE49-F238E27FC236}">
                <a16:creationId xmlns:a16="http://schemas.microsoft.com/office/drawing/2014/main" id="{E84B98AB-F05D-4258-9432-3A17FF6F9B1E}"/>
              </a:ext>
            </a:extLst>
          </p:cNvPr>
          <p:cNvSpPr/>
          <p:nvPr/>
        </p:nvSpPr>
        <p:spPr>
          <a:xfrm>
            <a:off x="847723" y="5125618"/>
            <a:ext cx="1057275" cy="742950"/>
          </a:xfrm>
          <a:prstGeom prst="homePlat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400" dirty="0">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5</a:t>
            </a:r>
          </a:p>
        </p:txBody>
      </p:sp>
      <p:sp>
        <p:nvSpPr>
          <p:cNvPr id="11" name="TextBox 10">
            <a:extLst>
              <a:ext uri="{FF2B5EF4-FFF2-40B4-BE49-F238E27FC236}">
                <a16:creationId xmlns:a16="http://schemas.microsoft.com/office/drawing/2014/main" id="{5CC22643-64A0-45D4-A933-FC932CB40394}"/>
              </a:ext>
            </a:extLst>
          </p:cNvPr>
          <p:cNvSpPr txBox="1"/>
          <p:nvPr/>
        </p:nvSpPr>
        <p:spPr>
          <a:xfrm>
            <a:off x="2174081" y="2028554"/>
            <a:ext cx="7843838" cy="1015663"/>
          </a:xfrm>
          <a:prstGeom prst="rect">
            <a:avLst/>
          </a:prstGeom>
          <a:noFill/>
        </p:spPr>
        <p:txBody>
          <a:bodyPr wrap="square" rtlCol="0">
            <a:spAutoFit/>
          </a:bodyPr>
          <a:lstStyle/>
          <a:p>
            <a:pPr algn="just"/>
            <a:r>
              <a:rPr lang="en-US" sz="2000" b="1" dirty="0">
                <a:latin typeface="Times New Roman" panose="02020603050405020304" pitchFamily="18" charset="0"/>
                <a:cs typeface="Times New Roman" panose="02020603050405020304" pitchFamily="18" charset="0"/>
              </a:rPr>
              <a:t>Extracted key product attributes including:</a:t>
            </a:r>
          </a:p>
          <a:p>
            <a:pPr algn="just"/>
            <a:r>
              <a:rPr lang="en-US" sz="2000" i="1" dirty="0">
                <a:latin typeface="Times New Roman" panose="02020603050405020304" pitchFamily="18" charset="0"/>
                <a:cs typeface="Times New Roman" panose="02020603050405020304" pitchFamily="18" charset="0"/>
              </a:rPr>
              <a:t>Brand, Product Name, Display Size, Display Type, Sound Output, Warranty, Resolution, Original Price, Discounted Price, and Ratings</a:t>
            </a:r>
          </a:p>
        </p:txBody>
      </p:sp>
      <p:sp>
        <p:nvSpPr>
          <p:cNvPr id="12" name="TextBox 11">
            <a:extLst>
              <a:ext uri="{FF2B5EF4-FFF2-40B4-BE49-F238E27FC236}">
                <a16:creationId xmlns:a16="http://schemas.microsoft.com/office/drawing/2014/main" id="{5054132A-496E-4257-9B32-2EB31CD5A2D2}"/>
              </a:ext>
            </a:extLst>
          </p:cNvPr>
          <p:cNvSpPr txBox="1"/>
          <p:nvPr/>
        </p:nvSpPr>
        <p:spPr>
          <a:xfrm>
            <a:off x="2174081" y="3171778"/>
            <a:ext cx="7843838" cy="400110"/>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Used </a:t>
            </a:r>
            <a:r>
              <a:rPr lang="en-US" sz="2000" b="1" dirty="0">
                <a:latin typeface="Times New Roman" panose="02020603050405020304" pitchFamily="18" charset="0"/>
                <a:cs typeface="Times New Roman" panose="02020603050405020304" pitchFamily="18" charset="0"/>
              </a:rPr>
              <a:t>regular expressions </a:t>
            </a:r>
            <a:r>
              <a:rPr lang="en-US" sz="2000" dirty="0">
                <a:latin typeface="Times New Roman" panose="02020603050405020304" pitchFamily="18" charset="0"/>
                <a:cs typeface="Times New Roman" panose="02020603050405020304" pitchFamily="18" charset="0"/>
              </a:rPr>
              <a:t>to extract required data by identifying patterns.</a:t>
            </a:r>
          </a:p>
        </p:txBody>
      </p:sp>
      <p:sp>
        <p:nvSpPr>
          <p:cNvPr id="13" name="TextBox 12">
            <a:extLst>
              <a:ext uri="{FF2B5EF4-FFF2-40B4-BE49-F238E27FC236}">
                <a16:creationId xmlns:a16="http://schemas.microsoft.com/office/drawing/2014/main" id="{CB91C7BF-01F1-4D0D-B5D7-107773E8F1D7}"/>
              </a:ext>
            </a:extLst>
          </p:cNvPr>
          <p:cNvSpPr txBox="1"/>
          <p:nvPr/>
        </p:nvSpPr>
        <p:spPr>
          <a:xfrm>
            <a:off x="2174081" y="3994809"/>
            <a:ext cx="7843838" cy="707886"/>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Created a structured DataFrame using</a:t>
            </a:r>
            <a:r>
              <a:rPr lang="en-US" sz="2000" b="1" dirty="0">
                <a:latin typeface="Times New Roman" panose="02020603050405020304" pitchFamily="18" charset="0"/>
                <a:cs typeface="Times New Roman" panose="02020603050405020304" pitchFamily="18" charset="0"/>
              </a:rPr>
              <a:t> pandas</a:t>
            </a:r>
            <a:r>
              <a:rPr lang="en-US" sz="2000" dirty="0">
                <a:latin typeface="Times New Roman" panose="02020603050405020304" pitchFamily="18" charset="0"/>
                <a:cs typeface="Times New Roman" panose="02020603050405020304" pitchFamily="18" charset="0"/>
              </a:rPr>
              <a:t>, handled missing values, and converted data into appropriate formats (int, float, object)..</a:t>
            </a:r>
          </a:p>
        </p:txBody>
      </p:sp>
      <p:sp>
        <p:nvSpPr>
          <p:cNvPr id="14" name="TextBox 13">
            <a:extLst>
              <a:ext uri="{FF2B5EF4-FFF2-40B4-BE49-F238E27FC236}">
                <a16:creationId xmlns:a16="http://schemas.microsoft.com/office/drawing/2014/main" id="{D6656BD2-7B1B-42FF-90A0-A1EA54A51124}"/>
              </a:ext>
            </a:extLst>
          </p:cNvPr>
          <p:cNvSpPr txBox="1"/>
          <p:nvPr/>
        </p:nvSpPr>
        <p:spPr>
          <a:xfrm>
            <a:off x="2174081" y="5125618"/>
            <a:ext cx="7843838" cy="707886"/>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 Combined all individual scraped pages into a single, cleaned dataset, ready for </a:t>
            </a:r>
            <a:r>
              <a:rPr lang="en-US" sz="2000" b="1" dirty="0">
                <a:latin typeface="Times New Roman" panose="02020603050405020304" pitchFamily="18" charset="0"/>
                <a:cs typeface="Times New Roman" panose="02020603050405020304" pitchFamily="18" charset="0"/>
              </a:rPr>
              <a:t>exploratory data analysis and visualization.</a:t>
            </a:r>
          </a:p>
        </p:txBody>
      </p:sp>
    </p:spTree>
    <p:extLst>
      <p:ext uri="{BB962C8B-B14F-4D97-AF65-F5344CB8AC3E}">
        <p14:creationId xmlns:p14="http://schemas.microsoft.com/office/powerpoint/2010/main" val="78841506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0">
            <a:extLst>
              <a:ext uri="{FF2B5EF4-FFF2-40B4-BE49-F238E27FC236}">
                <a16:creationId xmlns:a16="http://schemas.microsoft.com/office/drawing/2014/main" id="{2336D94F-30D9-4D0F-BE60-350358376FB6}"/>
              </a:ext>
            </a:extLst>
          </p:cNvPr>
          <p:cNvSpPr/>
          <p:nvPr/>
        </p:nvSpPr>
        <p:spPr>
          <a:xfrm>
            <a:off x="483968" y="416825"/>
            <a:ext cx="11478379" cy="74426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5850"/>
              </a:lnSpc>
              <a:buNone/>
            </a:pPr>
            <a:r>
              <a:rPr lang="en-US" sz="3200" b="1" dirty="0">
                <a:solidFill>
                  <a:srgbClr val="C00000"/>
                </a:solidFill>
                <a:latin typeface="Algerian" panose="04020705040A02060702" pitchFamily="82" charset="0"/>
                <a:ea typeface="Arial Unicode MS" panose="020B0604020202020204" pitchFamily="34" charset="-128"/>
                <a:cs typeface="Times New Roman" panose="02020603050405020304" pitchFamily="18" charset="0"/>
              </a:rPr>
              <a:t>Data Summary: Scope of the Collected Dataset</a:t>
            </a:r>
            <a:endParaRPr lang="en-US" sz="3200" dirty="0">
              <a:solidFill>
                <a:srgbClr val="C00000"/>
              </a:solidFill>
              <a:latin typeface="Algerian" panose="04020705040A02060702" pitchFamily="82" charset="0"/>
              <a:cs typeface="Times New Roman" panose="02020603050405020304" pitchFamily="18" charset="0"/>
            </a:endParaRPr>
          </a:p>
        </p:txBody>
      </p:sp>
      <p:sp>
        <p:nvSpPr>
          <p:cNvPr id="9" name="Text 1">
            <a:extLst>
              <a:ext uri="{FF2B5EF4-FFF2-40B4-BE49-F238E27FC236}">
                <a16:creationId xmlns:a16="http://schemas.microsoft.com/office/drawing/2014/main" id="{707A36DF-627F-4698-99DF-50537A51AF31}"/>
              </a:ext>
            </a:extLst>
          </p:cNvPr>
          <p:cNvSpPr/>
          <p:nvPr/>
        </p:nvSpPr>
        <p:spPr>
          <a:xfrm>
            <a:off x="669956" y="2206109"/>
            <a:ext cx="2344707" cy="748427"/>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5850"/>
              </a:lnSpc>
              <a:buNone/>
            </a:pPr>
            <a:r>
              <a:rPr lang="en-US" sz="5850" b="1" dirty="0">
                <a:solidFill>
                  <a:srgbClr val="272525"/>
                </a:solidFill>
                <a:latin typeface="Times New Roman" panose="02020603050405020304" pitchFamily="18" charset="0"/>
                <a:ea typeface="Arial Unicode MS" panose="020B0604020202020204" pitchFamily="34" charset="-128"/>
                <a:cs typeface="Times New Roman" panose="02020603050405020304" pitchFamily="18" charset="0"/>
              </a:rPr>
              <a:t>616</a:t>
            </a:r>
            <a:endParaRPr lang="en-US" sz="5850" dirty="0">
              <a:latin typeface="Times New Roman" panose="02020603050405020304" pitchFamily="18" charset="0"/>
              <a:cs typeface="Times New Roman" panose="02020603050405020304" pitchFamily="18" charset="0"/>
            </a:endParaRPr>
          </a:p>
        </p:txBody>
      </p:sp>
      <p:sp>
        <p:nvSpPr>
          <p:cNvPr id="10" name="Text 2">
            <a:extLst>
              <a:ext uri="{FF2B5EF4-FFF2-40B4-BE49-F238E27FC236}">
                <a16:creationId xmlns:a16="http://schemas.microsoft.com/office/drawing/2014/main" id="{E891DF90-1F8C-466B-B797-B62F802E0A42}"/>
              </a:ext>
            </a:extLst>
          </p:cNvPr>
          <p:cNvSpPr/>
          <p:nvPr/>
        </p:nvSpPr>
        <p:spPr>
          <a:xfrm>
            <a:off x="677722" y="3237905"/>
            <a:ext cx="2640805" cy="37207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900"/>
              </a:lnSpc>
              <a:buNone/>
            </a:pPr>
            <a:r>
              <a:rPr lang="en-US" sz="2300" b="1" dirty="0">
                <a:solidFill>
                  <a:srgbClr val="272525"/>
                </a:solidFill>
                <a:latin typeface="Times New Roman" panose="02020603050405020304" pitchFamily="18" charset="0"/>
                <a:ea typeface="Arial Unicode MS" panose="020B0604020202020204" pitchFamily="34" charset="-128"/>
                <a:cs typeface="Times New Roman" panose="02020603050405020304" pitchFamily="18" charset="0"/>
              </a:rPr>
              <a:t>Total Records</a:t>
            </a:r>
            <a:endParaRPr lang="en-US" sz="2300" dirty="0">
              <a:latin typeface="Times New Roman" panose="02020603050405020304" pitchFamily="18" charset="0"/>
              <a:cs typeface="Times New Roman" panose="02020603050405020304" pitchFamily="18" charset="0"/>
            </a:endParaRPr>
          </a:p>
        </p:txBody>
      </p:sp>
      <p:sp>
        <p:nvSpPr>
          <p:cNvPr id="11" name="Text 3">
            <a:extLst>
              <a:ext uri="{FF2B5EF4-FFF2-40B4-BE49-F238E27FC236}">
                <a16:creationId xmlns:a16="http://schemas.microsoft.com/office/drawing/2014/main" id="{FFAD1D30-7483-461D-B535-08F846A98E36}"/>
              </a:ext>
            </a:extLst>
          </p:cNvPr>
          <p:cNvSpPr/>
          <p:nvPr/>
        </p:nvSpPr>
        <p:spPr>
          <a:xfrm>
            <a:off x="565832" y="3802946"/>
            <a:ext cx="2993026" cy="757385"/>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850"/>
              </a:lnSpc>
              <a:buNone/>
            </a:pPr>
            <a:r>
              <a:rPr lang="en-US" sz="2000" dirty="0">
                <a:solidFill>
                  <a:srgbClr val="272525"/>
                </a:solidFill>
                <a:latin typeface="Times New Roman" panose="02020603050405020304" pitchFamily="18" charset="0"/>
                <a:ea typeface="Inter" pitchFamily="34" charset="-122"/>
                <a:cs typeface="Times New Roman" panose="02020603050405020304" pitchFamily="18" charset="0"/>
              </a:rPr>
              <a:t>Number of unique Smart TV product entries collected.</a:t>
            </a:r>
            <a:endParaRPr lang="en-US" sz="2000" dirty="0">
              <a:latin typeface="Times New Roman" panose="02020603050405020304" pitchFamily="18" charset="0"/>
              <a:cs typeface="Times New Roman" panose="02020603050405020304" pitchFamily="18" charset="0"/>
            </a:endParaRPr>
          </a:p>
        </p:txBody>
      </p:sp>
      <p:sp>
        <p:nvSpPr>
          <p:cNvPr id="12" name="Text 4">
            <a:extLst>
              <a:ext uri="{FF2B5EF4-FFF2-40B4-BE49-F238E27FC236}">
                <a16:creationId xmlns:a16="http://schemas.microsoft.com/office/drawing/2014/main" id="{3292D6D3-C1A8-48D7-A4A5-952496EF757F}"/>
              </a:ext>
            </a:extLst>
          </p:cNvPr>
          <p:cNvSpPr/>
          <p:nvPr/>
        </p:nvSpPr>
        <p:spPr>
          <a:xfrm>
            <a:off x="4273236" y="2206109"/>
            <a:ext cx="3070540" cy="748427"/>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5850"/>
              </a:lnSpc>
              <a:buNone/>
            </a:pPr>
            <a:r>
              <a:rPr lang="en-US" sz="5850" b="1" dirty="0">
                <a:solidFill>
                  <a:srgbClr val="272525"/>
                </a:solidFill>
                <a:latin typeface="Times New Roman" panose="02020603050405020304" pitchFamily="18" charset="0"/>
                <a:ea typeface="Arial Unicode MS" panose="020B0604020202020204" pitchFamily="34" charset="-128"/>
                <a:cs typeface="Times New Roman" panose="02020603050405020304" pitchFamily="18" charset="0"/>
              </a:rPr>
              <a:t>12</a:t>
            </a:r>
            <a:endParaRPr lang="en-US" sz="5850" dirty="0">
              <a:latin typeface="Times New Roman" panose="02020603050405020304" pitchFamily="18" charset="0"/>
              <a:cs typeface="Times New Roman" panose="02020603050405020304" pitchFamily="18" charset="0"/>
            </a:endParaRPr>
          </a:p>
        </p:txBody>
      </p:sp>
      <p:sp>
        <p:nvSpPr>
          <p:cNvPr id="13" name="Text 5">
            <a:extLst>
              <a:ext uri="{FF2B5EF4-FFF2-40B4-BE49-F238E27FC236}">
                <a16:creationId xmlns:a16="http://schemas.microsoft.com/office/drawing/2014/main" id="{D55AA6CC-8E98-4855-AE7B-A2E93637F6A5}"/>
              </a:ext>
            </a:extLst>
          </p:cNvPr>
          <p:cNvSpPr/>
          <p:nvPr/>
        </p:nvSpPr>
        <p:spPr>
          <a:xfrm>
            <a:off x="4494055" y="3237905"/>
            <a:ext cx="2628901" cy="37207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900"/>
              </a:lnSpc>
              <a:buNone/>
            </a:pPr>
            <a:r>
              <a:rPr lang="en-US" sz="2300" b="1" dirty="0">
                <a:solidFill>
                  <a:srgbClr val="272525"/>
                </a:solidFill>
                <a:latin typeface="Times New Roman" panose="02020603050405020304" pitchFamily="18" charset="0"/>
                <a:ea typeface="Arial Unicode MS" panose="020B0604020202020204" pitchFamily="34" charset="-128"/>
                <a:cs typeface="Times New Roman" panose="02020603050405020304" pitchFamily="18" charset="0"/>
              </a:rPr>
              <a:t>Columns Analyzed</a:t>
            </a:r>
            <a:endParaRPr lang="en-US" sz="2300" dirty="0">
              <a:latin typeface="Times New Roman" panose="02020603050405020304" pitchFamily="18" charset="0"/>
              <a:cs typeface="Times New Roman" panose="02020603050405020304" pitchFamily="18" charset="0"/>
            </a:endParaRPr>
          </a:p>
        </p:txBody>
      </p:sp>
      <p:sp>
        <p:nvSpPr>
          <p:cNvPr id="14" name="Text 6">
            <a:extLst>
              <a:ext uri="{FF2B5EF4-FFF2-40B4-BE49-F238E27FC236}">
                <a16:creationId xmlns:a16="http://schemas.microsoft.com/office/drawing/2014/main" id="{820322D5-DCA6-4942-AC2F-CDCC9CCD2249}"/>
              </a:ext>
            </a:extLst>
          </p:cNvPr>
          <p:cNvSpPr/>
          <p:nvPr/>
        </p:nvSpPr>
        <p:spPr>
          <a:xfrm>
            <a:off x="4144964" y="3818735"/>
            <a:ext cx="3327082" cy="725805"/>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850"/>
              </a:lnSpc>
              <a:buNone/>
            </a:pPr>
            <a:r>
              <a:rPr lang="en-US" sz="2000" dirty="0">
                <a:solidFill>
                  <a:srgbClr val="272525"/>
                </a:solidFill>
                <a:latin typeface="Times New Roman" panose="02020603050405020304" pitchFamily="18" charset="0"/>
                <a:ea typeface="Inter" pitchFamily="34" charset="-122"/>
                <a:cs typeface="Times New Roman" panose="02020603050405020304" pitchFamily="18" charset="0"/>
              </a:rPr>
              <a:t>Number of attributes extracted per product listing.</a:t>
            </a:r>
            <a:endParaRPr lang="en-US" sz="2000" dirty="0">
              <a:latin typeface="Times New Roman" panose="02020603050405020304" pitchFamily="18" charset="0"/>
              <a:cs typeface="Times New Roman" panose="02020603050405020304" pitchFamily="18" charset="0"/>
            </a:endParaRPr>
          </a:p>
        </p:txBody>
      </p:sp>
      <p:sp>
        <p:nvSpPr>
          <p:cNvPr id="15" name="Text 7">
            <a:extLst>
              <a:ext uri="{FF2B5EF4-FFF2-40B4-BE49-F238E27FC236}">
                <a16:creationId xmlns:a16="http://schemas.microsoft.com/office/drawing/2014/main" id="{35BB4215-27FE-4D51-9640-AA8DA83AF6AD}"/>
              </a:ext>
            </a:extLst>
          </p:cNvPr>
          <p:cNvSpPr/>
          <p:nvPr/>
        </p:nvSpPr>
        <p:spPr>
          <a:xfrm>
            <a:off x="8715375" y="2206109"/>
            <a:ext cx="1922448" cy="748427"/>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5850"/>
              </a:lnSpc>
              <a:buNone/>
            </a:pPr>
            <a:r>
              <a:rPr lang="en-US" sz="5850" b="1" dirty="0">
                <a:solidFill>
                  <a:srgbClr val="272525"/>
                </a:solidFill>
                <a:latin typeface="Times New Roman" panose="02020603050405020304" pitchFamily="18" charset="0"/>
                <a:ea typeface="Arial Unicode MS" panose="020B0604020202020204" pitchFamily="34" charset="-128"/>
                <a:cs typeface="Times New Roman" panose="02020603050405020304" pitchFamily="18" charset="0"/>
              </a:rPr>
              <a:t>50+</a:t>
            </a:r>
            <a:endParaRPr lang="en-US" sz="5850" dirty="0">
              <a:latin typeface="Times New Roman" panose="02020603050405020304" pitchFamily="18" charset="0"/>
              <a:cs typeface="Times New Roman" panose="02020603050405020304" pitchFamily="18" charset="0"/>
            </a:endParaRPr>
          </a:p>
        </p:txBody>
      </p:sp>
      <p:sp>
        <p:nvSpPr>
          <p:cNvPr id="16" name="Text 8">
            <a:extLst>
              <a:ext uri="{FF2B5EF4-FFF2-40B4-BE49-F238E27FC236}">
                <a16:creationId xmlns:a16="http://schemas.microsoft.com/office/drawing/2014/main" id="{0C08DF1B-200F-49EB-9A99-99E290F20384}"/>
              </a:ext>
            </a:extLst>
          </p:cNvPr>
          <p:cNvSpPr/>
          <p:nvPr/>
        </p:nvSpPr>
        <p:spPr>
          <a:xfrm>
            <a:off x="8361901" y="3237905"/>
            <a:ext cx="2719584" cy="37207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900"/>
              </a:lnSpc>
              <a:buNone/>
            </a:pPr>
            <a:r>
              <a:rPr lang="en-US" sz="2300" b="1" dirty="0">
                <a:solidFill>
                  <a:srgbClr val="272525"/>
                </a:solidFill>
                <a:latin typeface="Times New Roman" panose="02020603050405020304" pitchFamily="18" charset="0"/>
                <a:ea typeface="Arial Unicode MS" panose="020B0604020202020204" pitchFamily="34" charset="-128"/>
                <a:cs typeface="Times New Roman" panose="02020603050405020304" pitchFamily="18" charset="0"/>
              </a:rPr>
              <a:t>Brands</a:t>
            </a:r>
            <a:endParaRPr lang="en-US" sz="2300" dirty="0">
              <a:latin typeface="Times New Roman" panose="02020603050405020304" pitchFamily="18" charset="0"/>
              <a:cs typeface="Times New Roman" panose="02020603050405020304" pitchFamily="18" charset="0"/>
            </a:endParaRPr>
          </a:p>
        </p:txBody>
      </p:sp>
      <p:sp>
        <p:nvSpPr>
          <p:cNvPr id="17" name="Text 9">
            <a:extLst>
              <a:ext uri="{FF2B5EF4-FFF2-40B4-BE49-F238E27FC236}">
                <a16:creationId xmlns:a16="http://schemas.microsoft.com/office/drawing/2014/main" id="{96C465D8-480A-4FFB-B8AE-A56E671EECAE}"/>
              </a:ext>
            </a:extLst>
          </p:cNvPr>
          <p:cNvSpPr/>
          <p:nvPr/>
        </p:nvSpPr>
        <p:spPr>
          <a:xfrm>
            <a:off x="8058152" y="3803437"/>
            <a:ext cx="3327082" cy="725805"/>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850"/>
              </a:lnSpc>
              <a:buNone/>
            </a:pPr>
            <a:r>
              <a:rPr lang="en-US" sz="2000" dirty="0">
                <a:solidFill>
                  <a:srgbClr val="272525"/>
                </a:solidFill>
                <a:latin typeface="Times New Roman" panose="02020603050405020304" pitchFamily="18" charset="0"/>
                <a:ea typeface="Inter" pitchFamily="34" charset="-122"/>
                <a:cs typeface="Times New Roman" panose="02020603050405020304" pitchFamily="18" charset="0"/>
              </a:rPr>
              <a:t>Diversity of manufacturers represented in the dataset.</a:t>
            </a:r>
            <a:endParaRPr lang="en-US" sz="2000" dirty="0">
              <a:latin typeface="Times New Roman" panose="02020603050405020304" pitchFamily="18" charset="0"/>
              <a:cs typeface="Times New Roman" panose="02020603050405020304" pitchFamily="18" charset="0"/>
            </a:endParaRPr>
          </a:p>
        </p:txBody>
      </p:sp>
      <p:sp>
        <p:nvSpPr>
          <p:cNvPr id="18" name="Text 10">
            <a:extLst>
              <a:ext uri="{FF2B5EF4-FFF2-40B4-BE49-F238E27FC236}">
                <a16:creationId xmlns:a16="http://schemas.microsoft.com/office/drawing/2014/main" id="{C623C2B9-8C06-450B-938A-5AFAC07C1E42}"/>
              </a:ext>
            </a:extLst>
          </p:cNvPr>
          <p:cNvSpPr/>
          <p:nvPr/>
        </p:nvSpPr>
        <p:spPr>
          <a:xfrm>
            <a:off x="802004" y="5263395"/>
            <a:ext cx="10842308" cy="725805"/>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850"/>
              </a:lnSpc>
              <a:buNone/>
            </a:pPr>
            <a:r>
              <a:rPr lang="en-US" sz="2000" dirty="0">
                <a:solidFill>
                  <a:srgbClr val="272525"/>
                </a:solidFill>
                <a:latin typeface="Times New Roman" panose="02020603050405020304" pitchFamily="18" charset="0"/>
                <a:ea typeface="Inter" pitchFamily="34" charset="-122"/>
                <a:cs typeface="Times New Roman" panose="02020603050405020304" pitchFamily="18" charset="0"/>
              </a:rPr>
              <a:t>The dataset provides a robust snapshot of the current Smart TV market, allowing for detailed comparative analysis across diverse product segments</a:t>
            </a: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a:t>
            </a:r>
            <a:endParaRPr lang="en-US" sz="1750" dirty="0">
              <a:latin typeface="Times New Roman" panose="02020603050405020304" pitchFamily="18" charset="0"/>
              <a:cs typeface="Times New Roman" panose="02020603050405020304" pitchFamily="18" charset="0"/>
            </a:endParaRPr>
          </a:p>
        </p:txBody>
      </p:sp>
      <p:sp>
        <p:nvSpPr>
          <p:cNvPr id="19" name="Shape 11">
            <a:extLst>
              <a:ext uri="{FF2B5EF4-FFF2-40B4-BE49-F238E27FC236}">
                <a16:creationId xmlns:a16="http://schemas.microsoft.com/office/drawing/2014/main" id="{A464FA34-7E55-49A2-856F-C80677E83B14}"/>
              </a:ext>
            </a:extLst>
          </p:cNvPr>
          <p:cNvSpPr/>
          <p:nvPr/>
        </p:nvSpPr>
        <p:spPr>
          <a:xfrm>
            <a:off x="461108" y="5263395"/>
            <a:ext cx="45719" cy="805458"/>
          </a:xfrm>
          <a:prstGeom prst="rect">
            <a:avLst/>
          </a:prstGeom>
          <a:solidFill>
            <a:srgbClr val="C00000"/>
          </a:solidFill>
          <a:ln/>
          <a:effectLst>
            <a:outerShdw blurRad="50800" dist="38100" algn="l" rotWithShape="0">
              <a:prstClr val="black">
                <a:alpha val="40000"/>
              </a:prstClr>
            </a:outerShdw>
          </a:effectLst>
        </p:spPr>
        <p:txBody>
          <a:bodyPr/>
          <a:lstStyle/>
          <a:p>
            <a:endParaRPr lang="en-US"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392998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Title 39">
            <a:extLst>
              <a:ext uri="{FF2B5EF4-FFF2-40B4-BE49-F238E27FC236}">
                <a16:creationId xmlns:a16="http://schemas.microsoft.com/office/drawing/2014/main" id="{A627D02C-77D7-4225-B471-6EAD3B4EBB7F}"/>
              </a:ext>
            </a:extLst>
          </p:cNvPr>
          <p:cNvSpPr>
            <a:spLocks noGrp="1"/>
          </p:cNvSpPr>
          <p:nvPr>
            <p:ph type="title"/>
          </p:nvPr>
        </p:nvSpPr>
        <p:spPr>
          <a:xfrm>
            <a:off x="488156" y="336550"/>
            <a:ext cx="11215687" cy="680821"/>
          </a:xfrm>
        </p:spPr>
        <p:txBody>
          <a:bodyPr>
            <a:normAutofit/>
          </a:bodyPr>
          <a:lstStyle/>
          <a:p>
            <a:r>
              <a:rPr lang="en-US" sz="3600" b="1" dirty="0">
                <a:solidFill>
                  <a:srgbClr val="C00000"/>
                </a:solidFill>
                <a:latin typeface="Algerian" panose="04020705040A02060702" pitchFamily="82" charset="0"/>
                <a:ea typeface="Arial Unicode MS" panose="020B0604020202020204" pitchFamily="34" charset="-128"/>
                <a:cs typeface="Times New Roman" panose="02020603050405020304" pitchFamily="18" charset="0"/>
              </a:rPr>
              <a:t>Key Dataset Attributes</a:t>
            </a:r>
            <a:endParaRPr lang="en-US" dirty="0">
              <a:latin typeface="Algerian" panose="04020705040A02060702" pitchFamily="82" charset="0"/>
              <a:cs typeface="Times New Roman" panose="02020603050405020304" pitchFamily="18" charset="0"/>
            </a:endParaRPr>
          </a:p>
        </p:txBody>
      </p:sp>
      <p:sp>
        <p:nvSpPr>
          <p:cNvPr id="58" name="Text 1">
            <a:extLst>
              <a:ext uri="{FF2B5EF4-FFF2-40B4-BE49-F238E27FC236}">
                <a16:creationId xmlns:a16="http://schemas.microsoft.com/office/drawing/2014/main" id="{4A72650A-B2BE-4EC6-A5B8-E4371433F555}"/>
              </a:ext>
            </a:extLst>
          </p:cNvPr>
          <p:cNvSpPr/>
          <p:nvPr/>
        </p:nvSpPr>
        <p:spPr>
          <a:xfrm>
            <a:off x="448271" y="1028581"/>
            <a:ext cx="12038536" cy="695288"/>
          </a:xfrm>
          <a:prstGeom prst="rect">
            <a:avLst/>
          </a:prstGeom>
          <a:noFill/>
          <a:ln/>
        </p:spPr>
        <p:txBody>
          <a:bodyPr wrap="none" lIns="0" tIns="0" rIns="0" bIns="0" rtlCol="0" anchor="t"/>
          <a:lstStyle/>
          <a:p>
            <a:pPr marL="0" indent="0" algn="just">
              <a:lnSpc>
                <a:spcPts val="1600"/>
              </a:lnSpc>
              <a:buNone/>
            </a:pPr>
            <a:endParaRPr lang="en-US" sz="2000" dirty="0">
              <a:latin typeface="Times New Roman" panose="02020603050405020304" pitchFamily="18" charset="0"/>
              <a:cs typeface="Times New Roman" panose="02020603050405020304" pitchFamily="18" charset="0"/>
            </a:endParaRPr>
          </a:p>
        </p:txBody>
      </p:sp>
      <p:sp>
        <p:nvSpPr>
          <p:cNvPr id="60" name="TextBox 59">
            <a:extLst>
              <a:ext uri="{FF2B5EF4-FFF2-40B4-BE49-F238E27FC236}">
                <a16:creationId xmlns:a16="http://schemas.microsoft.com/office/drawing/2014/main" id="{83E0D0C1-2D00-4472-AF89-450753167AF6}"/>
              </a:ext>
            </a:extLst>
          </p:cNvPr>
          <p:cNvSpPr txBox="1"/>
          <p:nvPr/>
        </p:nvSpPr>
        <p:spPr>
          <a:xfrm>
            <a:off x="543119" y="2035462"/>
            <a:ext cx="5063202" cy="1692771"/>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Product &amp; Brand Information</a:t>
            </a:r>
          </a:p>
          <a:p>
            <a:pPr marL="342900" indent="-342900"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Brand: Manufacturer name</a:t>
            </a:r>
          </a:p>
          <a:p>
            <a:pPr marL="342900" indent="-342900"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Model_Id: Unique product code</a:t>
            </a:r>
          </a:p>
          <a:p>
            <a:pPr marL="342900" indent="-342900"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Product_Name: Full commercial name</a:t>
            </a:r>
          </a:p>
          <a:p>
            <a:pPr marL="342900" indent="-342900"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Launch_Year: Year of market introduction</a:t>
            </a:r>
          </a:p>
        </p:txBody>
      </p:sp>
      <p:sp>
        <p:nvSpPr>
          <p:cNvPr id="62" name="TextBox 61">
            <a:extLst>
              <a:ext uri="{FF2B5EF4-FFF2-40B4-BE49-F238E27FC236}">
                <a16:creationId xmlns:a16="http://schemas.microsoft.com/office/drawing/2014/main" id="{178D0BBC-EFD2-4889-855A-C174716944A7}"/>
              </a:ext>
            </a:extLst>
          </p:cNvPr>
          <p:cNvSpPr txBox="1"/>
          <p:nvPr/>
        </p:nvSpPr>
        <p:spPr>
          <a:xfrm>
            <a:off x="488156" y="1082898"/>
            <a:ext cx="11354073" cy="707886"/>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The 12 extracted columns provide comprehensive data points covering core product identifiers, technical specifications, and consumer feedback.</a:t>
            </a:r>
          </a:p>
        </p:txBody>
      </p:sp>
      <p:sp>
        <p:nvSpPr>
          <p:cNvPr id="63" name="TextBox 62">
            <a:extLst>
              <a:ext uri="{FF2B5EF4-FFF2-40B4-BE49-F238E27FC236}">
                <a16:creationId xmlns:a16="http://schemas.microsoft.com/office/drawing/2014/main" id="{9CEB3492-B75E-44DB-A5C7-B9731630BA34}"/>
              </a:ext>
            </a:extLst>
          </p:cNvPr>
          <p:cNvSpPr txBox="1"/>
          <p:nvPr/>
        </p:nvSpPr>
        <p:spPr>
          <a:xfrm>
            <a:off x="543119" y="4335196"/>
            <a:ext cx="5063202" cy="1692771"/>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Pricing &amp; Consumer Metrics</a:t>
            </a:r>
          </a:p>
          <a:p>
            <a:pPr marL="342900" indent="-342900">
              <a:buFont typeface="Wingdings" panose="05000000000000000000" pitchFamily="2" charset="2"/>
              <a:buChar char="§"/>
            </a:pPr>
            <a:r>
              <a:rPr lang="en-US" sz="2000" dirty="0" err="1">
                <a:latin typeface="Times New Roman" panose="02020603050405020304" pitchFamily="18" charset="0"/>
                <a:cs typeface="Times New Roman" panose="02020603050405020304" pitchFamily="18" charset="0"/>
              </a:rPr>
              <a:t>Original_Price</a:t>
            </a:r>
            <a:r>
              <a:rPr lang="en-US" sz="2000" dirty="0">
                <a:latin typeface="Times New Roman" panose="02020603050405020304" pitchFamily="18" charset="0"/>
                <a:cs typeface="Times New Roman" panose="02020603050405020304" pitchFamily="18" charset="0"/>
              </a:rPr>
              <a:t>: MSRP on the platform</a:t>
            </a:r>
          </a:p>
          <a:p>
            <a:pPr marL="342900" indent="-342900">
              <a:buFont typeface="Wingdings" panose="05000000000000000000" pitchFamily="2" charset="2"/>
              <a:buChar char="§"/>
            </a:pPr>
            <a:r>
              <a:rPr lang="en-US" sz="2000" dirty="0" err="1">
                <a:latin typeface="Times New Roman" panose="02020603050405020304" pitchFamily="18" charset="0"/>
                <a:cs typeface="Times New Roman" panose="02020603050405020304" pitchFamily="18" charset="0"/>
              </a:rPr>
              <a:t>Discounted_Price</a:t>
            </a:r>
            <a:r>
              <a:rPr lang="en-US" sz="2000" dirty="0">
                <a:latin typeface="Times New Roman" panose="02020603050405020304" pitchFamily="18" charset="0"/>
                <a:cs typeface="Times New Roman" panose="02020603050405020304" pitchFamily="18" charset="0"/>
              </a:rPr>
              <a:t>: Current selling price</a:t>
            </a:r>
          </a:p>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Ratings: Average user rating (out of 5)</a:t>
            </a:r>
          </a:p>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Warranty: Duration of product warranty</a:t>
            </a:r>
          </a:p>
        </p:txBody>
      </p:sp>
      <p:sp>
        <p:nvSpPr>
          <p:cNvPr id="64" name="TextBox 63">
            <a:extLst>
              <a:ext uri="{FF2B5EF4-FFF2-40B4-BE49-F238E27FC236}">
                <a16:creationId xmlns:a16="http://schemas.microsoft.com/office/drawing/2014/main" id="{6402E84F-E9D5-4DF9-8100-5012AA726115}"/>
              </a:ext>
            </a:extLst>
          </p:cNvPr>
          <p:cNvSpPr txBox="1"/>
          <p:nvPr/>
        </p:nvSpPr>
        <p:spPr>
          <a:xfrm>
            <a:off x="5911120" y="2035462"/>
            <a:ext cx="5931109" cy="1692771"/>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Technical Specifications</a:t>
            </a:r>
          </a:p>
          <a:p>
            <a:pPr marL="342900" indent="-342900">
              <a:buFont typeface="Wingdings" panose="05000000000000000000" pitchFamily="2" charset="2"/>
              <a:buChar char="§"/>
            </a:pPr>
            <a:r>
              <a:rPr lang="en-US" sz="2000" dirty="0" err="1">
                <a:latin typeface="Times New Roman" panose="02020603050405020304" pitchFamily="18" charset="0"/>
                <a:cs typeface="Times New Roman" panose="02020603050405020304" pitchFamily="18" charset="0"/>
              </a:rPr>
              <a:t>Display_inches</a:t>
            </a:r>
            <a:r>
              <a:rPr lang="en-US" sz="2000" dirty="0">
                <a:latin typeface="Times New Roman" panose="02020603050405020304" pitchFamily="18" charset="0"/>
                <a:cs typeface="Times New Roman" panose="02020603050405020304" pitchFamily="18" charset="0"/>
              </a:rPr>
              <a:t>: Screen size</a:t>
            </a:r>
          </a:p>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Resolution: Screen pixel density (e.g., 4K, Full HD)</a:t>
            </a:r>
          </a:p>
          <a:p>
            <a:pPr marL="342900" indent="-342900">
              <a:buFont typeface="Wingdings" panose="05000000000000000000" pitchFamily="2" charset="2"/>
              <a:buChar char="§"/>
            </a:pPr>
            <a:r>
              <a:rPr lang="en-US" sz="2000" dirty="0" err="1">
                <a:latin typeface="Times New Roman" panose="02020603050405020304" pitchFamily="18" charset="0"/>
                <a:cs typeface="Times New Roman" panose="02020603050405020304" pitchFamily="18" charset="0"/>
              </a:rPr>
              <a:t>Display_Type</a:t>
            </a:r>
            <a:r>
              <a:rPr lang="en-US" sz="2000" dirty="0">
                <a:latin typeface="Times New Roman" panose="02020603050405020304" pitchFamily="18" charset="0"/>
                <a:cs typeface="Times New Roman" panose="02020603050405020304" pitchFamily="18" charset="0"/>
              </a:rPr>
              <a:t>: Panel technology (e.g., LED, OLED)</a:t>
            </a:r>
          </a:p>
          <a:p>
            <a:pPr marL="342900" indent="-342900">
              <a:buFont typeface="Wingdings" panose="05000000000000000000" pitchFamily="2" charset="2"/>
              <a:buChar char="§"/>
            </a:pPr>
            <a:r>
              <a:rPr lang="en-US" sz="2000" dirty="0" err="1">
                <a:latin typeface="Times New Roman" panose="02020603050405020304" pitchFamily="18" charset="0"/>
                <a:cs typeface="Times New Roman" panose="02020603050405020304" pitchFamily="18" charset="0"/>
              </a:rPr>
              <a:t>Sound_Output_Watt</a:t>
            </a:r>
            <a:r>
              <a:rPr lang="en-US" sz="2000" dirty="0">
                <a:latin typeface="Times New Roman" panose="02020603050405020304" pitchFamily="18" charset="0"/>
                <a:cs typeface="Times New Roman" panose="02020603050405020304" pitchFamily="18" charset="0"/>
              </a:rPr>
              <a:t>: Speaker output power</a:t>
            </a:r>
          </a:p>
        </p:txBody>
      </p:sp>
    </p:spTree>
    <p:extLst>
      <p:ext uri="{BB962C8B-B14F-4D97-AF65-F5344CB8AC3E}">
        <p14:creationId xmlns:p14="http://schemas.microsoft.com/office/powerpoint/2010/main" val="33141545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6670AA4-D69D-41DB-B5C8-BD99A21F9F68}"/>
              </a:ext>
            </a:extLst>
          </p:cNvPr>
          <p:cNvSpPr>
            <a:spLocks noGrp="1"/>
          </p:cNvSpPr>
          <p:nvPr>
            <p:ph type="title"/>
          </p:nvPr>
        </p:nvSpPr>
        <p:spPr>
          <a:xfrm>
            <a:off x="666750" y="3051175"/>
            <a:ext cx="9320213" cy="1325563"/>
          </a:xfrm>
        </p:spPr>
        <p:txBody>
          <a:bodyPr>
            <a:normAutofit fontScale="90000"/>
          </a:bodyPr>
          <a:lstStyle/>
          <a:p>
            <a:r>
              <a:rPr lang="en-US" sz="5400" dirty="0">
                <a:solidFill>
                  <a:srgbClr val="C00000"/>
                </a:solidFill>
                <a:latin typeface="Algerian" panose="04020705040A02060702" pitchFamily="82" charset="0"/>
              </a:rPr>
              <a:t>EXPLORATORY DATA ANALYSIS</a:t>
            </a:r>
          </a:p>
        </p:txBody>
      </p:sp>
    </p:spTree>
    <p:extLst>
      <p:ext uri="{BB962C8B-B14F-4D97-AF65-F5344CB8AC3E}">
        <p14:creationId xmlns:p14="http://schemas.microsoft.com/office/powerpoint/2010/main" val="1248886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922D6724-0CD4-47A4-97B2-272B7E730431}"/>
              </a:ext>
            </a:extLst>
          </p:cNvPr>
          <p:cNvSpPr txBox="1"/>
          <p:nvPr/>
        </p:nvSpPr>
        <p:spPr>
          <a:xfrm>
            <a:off x="357188" y="442913"/>
            <a:ext cx="11087100" cy="5509200"/>
          </a:xfrm>
          <a:prstGeom prst="rect">
            <a:avLst/>
          </a:prstGeom>
          <a:noFill/>
        </p:spPr>
        <p:txBody>
          <a:bodyPr wrap="square">
            <a:spAutoFit/>
          </a:bodyPr>
          <a:lstStyle/>
          <a:p>
            <a:pPr marL="342900" indent="-342900">
              <a:buFont typeface="Wingdings" panose="05000000000000000000" pitchFamily="2" charset="2"/>
              <a:buChar char="Ø"/>
            </a:pPr>
            <a:r>
              <a:rPr lang="en-US" sz="2400" b="1" dirty="0">
                <a:solidFill>
                  <a:srgbClr val="C00000"/>
                </a:solidFill>
                <a:latin typeface="Algerian" panose="04020705040A02060702" pitchFamily="82" charset="0"/>
                <a:cs typeface="Times New Roman" panose="02020603050405020304" pitchFamily="18" charset="0"/>
              </a:rPr>
              <a:t>Data Cleaning:</a:t>
            </a:r>
          </a:p>
          <a:p>
            <a:endParaRPr lang="en-US" sz="2400" b="1" dirty="0">
              <a:solidFill>
                <a:srgbClr val="C00000"/>
              </a:solidFill>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sym typeface="Wingdings" panose="05000000000000000000" pitchFamily="2" charset="2"/>
              </a:rPr>
              <a:t> </a:t>
            </a:r>
            <a:r>
              <a:rPr lang="en-US" sz="2000" dirty="0">
                <a:latin typeface="Times New Roman" panose="02020603050405020304" pitchFamily="18" charset="0"/>
                <a:cs typeface="Times New Roman" panose="02020603050405020304" pitchFamily="18" charset="0"/>
              </a:rPr>
              <a:t>Removed duplicate records based on Model ID. Cleaned price columns by removing ₹ and “,” 	     symbols and converted them to integer type.</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sym typeface="Wingdings" panose="05000000000000000000" pitchFamily="2" charset="2"/>
              </a:rPr>
              <a:t> </a:t>
            </a:r>
            <a:r>
              <a:rPr lang="en-US" sz="2000" dirty="0">
                <a:latin typeface="Times New Roman" panose="02020603050405020304" pitchFamily="18" charset="0"/>
                <a:cs typeface="Times New Roman" panose="02020603050405020304" pitchFamily="18" charset="0"/>
              </a:rPr>
              <a:t>Replaced blank and null values in the Warranty field with 0.</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sym typeface="Wingdings" panose="05000000000000000000" pitchFamily="2" charset="2"/>
              </a:rPr>
              <a:t> </a:t>
            </a:r>
            <a:r>
              <a:rPr lang="en-US" sz="2000" dirty="0">
                <a:latin typeface="Times New Roman" panose="02020603050405020304" pitchFamily="18" charset="0"/>
                <a:cs typeface="Times New Roman" panose="02020603050405020304" pitchFamily="18" charset="0"/>
              </a:rPr>
              <a:t>Extracted year from Launch_Year column (originally in YYYY-MM-DD format).</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sym typeface="Wingdings" panose="05000000000000000000" pitchFamily="2" charset="2"/>
              </a:rPr>
              <a:t> </a:t>
            </a:r>
            <a:r>
              <a:rPr lang="en-US" sz="2000" dirty="0">
                <a:latin typeface="Times New Roman" panose="02020603050405020304" pitchFamily="18" charset="0"/>
                <a:cs typeface="Times New Roman" panose="02020603050405020304" pitchFamily="18" charset="0"/>
              </a:rPr>
              <a:t>Standardized data types across all columns for uniformity.</a:t>
            </a:r>
          </a:p>
          <a:p>
            <a:pPr algn="just"/>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1" dirty="0">
                <a:solidFill>
                  <a:srgbClr val="C00000"/>
                </a:solidFill>
                <a:latin typeface="Algerian" panose="04020705040A02060702" pitchFamily="82" charset="0"/>
                <a:cs typeface="Times New Roman" panose="02020603050405020304" pitchFamily="18" charset="0"/>
              </a:rPr>
              <a:t>Data Manipulation:</a:t>
            </a:r>
          </a:p>
          <a:p>
            <a:endParaRPr lang="en-US" sz="2000" b="1" dirty="0">
              <a:solidFill>
                <a:srgbClr val="C00000"/>
              </a:solidFill>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sym typeface="Wingdings" panose="05000000000000000000" pitchFamily="2" charset="2"/>
              </a:rPr>
              <a:t> </a:t>
            </a:r>
            <a:r>
              <a:rPr lang="en-US" sz="2000" dirty="0">
                <a:latin typeface="Times New Roman" panose="02020603050405020304" pitchFamily="18" charset="0"/>
                <a:cs typeface="Times New Roman" panose="02020603050405020304" pitchFamily="18" charset="0"/>
              </a:rPr>
              <a:t>Created a new derived column Discount_Percentage to analyze price reductions.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sym typeface="Wingdings" panose="05000000000000000000" pitchFamily="2" charset="2"/>
              </a:rPr>
              <a:t> </a:t>
            </a:r>
            <a:r>
              <a:rPr lang="en-US" sz="2000" dirty="0">
                <a:latin typeface="Times New Roman" panose="02020603050405020304" pitchFamily="18" charset="0"/>
                <a:cs typeface="Times New Roman" panose="02020603050405020304" pitchFamily="18" charset="0"/>
              </a:rPr>
              <a:t>Converted Display_inches from integer to object type to enable feature-based grouping.</a:t>
            </a:r>
          </a:p>
        </p:txBody>
      </p:sp>
    </p:spTree>
    <p:extLst>
      <p:ext uri="{BB962C8B-B14F-4D97-AF65-F5344CB8AC3E}">
        <p14:creationId xmlns:p14="http://schemas.microsoft.com/office/powerpoint/2010/main" val="20830762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6670AA4-D69D-41DB-B5C8-BD99A21F9F68}"/>
              </a:ext>
            </a:extLst>
          </p:cNvPr>
          <p:cNvSpPr>
            <a:spLocks noGrp="1"/>
          </p:cNvSpPr>
          <p:nvPr>
            <p:ph type="title"/>
          </p:nvPr>
        </p:nvSpPr>
        <p:spPr>
          <a:xfrm>
            <a:off x="757284" y="2679983"/>
            <a:ext cx="4131587" cy="1325563"/>
          </a:xfrm>
        </p:spPr>
        <p:txBody>
          <a:bodyPr>
            <a:normAutofit fontScale="90000"/>
          </a:bodyPr>
          <a:lstStyle/>
          <a:p>
            <a:r>
              <a:rPr lang="en-US" sz="5400" dirty="0">
                <a:solidFill>
                  <a:srgbClr val="C00000"/>
                </a:solidFill>
                <a:latin typeface="Algerian" panose="04020705040A02060702" pitchFamily="82" charset="0"/>
              </a:rPr>
              <a:t>UNIVARIATE</a:t>
            </a:r>
            <a:br>
              <a:rPr lang="en-US" sz="5400" dirty="0">
                <a:solidFill>
                  <a:srgbClr val="C00000"/>
                </a:solidFill>
                <a:latin typeface="Algerian" panose="04020705040A02060702" pitchFamily="82" charset="0"/>
              </a:rPr>
            </a:br>
            <a:r>
              <a:rPr lang="en-US" sz="5400" dirty="0">
                <a:solidFill>
                  <a:srgbClr val="C00000"/>
                </a:solidFill>
                <a:latin typeface="Algerian" panose="04020705040A02060702" pitchFamily="82" charset="0"/>
              </a:rPr>
              <a:t>ANALYSIS</a:t>
            </a:r>
          </a:p>
        </p:txBody>
      </p:sp>
    </p:spTree>
    <p:extLst>
      <p:ext uri="{BB962C8B-B14F-4D97-AF65-F5344CB8AC3E}">
        <p14:creationId xmlns:p14="http://schemas.microsoft.com/office/powerpoint/2010/main" val="81767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5321"/>
            <a:ext cx="9008198" cy="493414"/>
          </a:xfrm>
        </p:spPr>
        <p:txBody>
          <a:bodyPr>
            <a:noAutofit/>
          </a:bodyPr>
          <a:lstStyle/>
          <a:p>
            <a:pPr algn="ctr"/>
            <a:r>
              <a:rPr lang="en-GB" sz="2400" b="1" dirty="0">
                <a:solidFill>
                  <a:srgbClr val="C00000"/>
                </a:solidFill>
                <a:latin typeface="Algerian" panose="04020705040A02060702" pitchFamily="82" charset="0"/>
              </a:rPr>
              <a:t>Smart TV Price Distribution Across Market Segments</a:t>
            </a:r>
            <a:endParaRPr lang="en-IN" sz="2400" b="1" dirty="0">
              <a:solidFill>
                <a:srgbClr val="C00000"/>
              </a:solidFill>
              <a:latin typeface="Algerian" panose="04020705040A02060702" pitchFamily="82" charset="0"/>
              <a:cs typeface="Times New Roman" panose="02020603050405020304" pitchFamily="18" charset="0"/>
            </a:endParaRPr>
          </a:p>
        </p:txBody>
      </p:sp>
      <p:sp>
        <p:nvSpPr>
          <p:cNvPr id="4" name="Text Placeholder 3"/>
          <p:cNvSpPr>
            <a:spLocks noGrp="1"/>
          </p:cNvSpPr>
          <p:nvPr>
            <p:ph type="body" idx="1"/>
          </p:nvPr>
        </p:nvSpPr>
        <p:spPr>
          <a:xfrm>
            <a:off x="5251010" y="950233"/>
            <a:ext cx="6835365" cy="2159257"/>
          </a:xfrm>
        </p:spPr>
        <p:txBody>
          <a:bodyPr>
            <a:normAutofit/>
          </a:bodyPr>
          <a:lstStyle/>
          <a:p>
            <a:pPr algn="just"/>
            <a:r>
              <a:rPr lang="en-GB" sz="2000" b="1" dirty="0">
                <a:latin typeface="Times New Roman" panose="02020603050405020304" pitchFamily="18" charset="0"/>
                <a:cs typeface="Times New Roman" panose="02020603050405020304" pitchFamily="18" charset="0"/>
              </a:rPr>
              <a:t>Key Insights:</a:t>
            </a:r>
          </a:p>
          <a:p>
            <a:pPr marL="685800" indent="-457200" algn="just">
              <a:buFont typeface="+mj-lt"/>
              <a:buAutoNum type="arabicPeriod"/>
            </a:pPr>
            <a:r>
              <a:rPr lang="en-GB" dirty="0">
                <a:latin typeface="Times New Roman" panose="02020603050405020304" pitchFamily="18" charset="0"/>
                <a:cs typeface="Times New Roman" panose="02020603050405020304" pitchFamily="18" charset="0"/>
              </a:rPr>
              <a:t>Majority of Smart TVs fall under the Budget Segment (&lt;₹50K)</a:t>
            </a:r>
          </a:p>
          <a:p>
            <a:pPr marL="685800" indent="-457200" algn="just">
              <a:buFont typeface="+mj-lt"/>
              <a:buAutoNum type="arabicPeriod"/>
            </a:pPr>
            <a:r>
              <a:rPr lang="en-GB" dirty="0">
                <a:latin typeface="Times New Roman" panose="02020603050405020304" pitchFamily="18" charset="0"/>
                <a:cs typeface="Times New Roman" panose="02020603050405020304" pitchFamily="18" charset="0"/>
              </a:rPr>
              <a:t>Mid-Range (₹50K–₹2.5L) segment forms the second largest share</a:t>
            </a:r>
          </a:p>
          <a:p>
            <a:pPr marL="685800" indent="-457200" algn="just">
              <a:buFont typeface="+mj-lt"/>
              <a:buAutoNum type="arabicPeriod"/>
            </a:pPr>
            <a:r>
              <a:rPr lang="en-GB" dirty="0">
                <a:latin typeface="Times New Roman" panose="02020603050405020304" pitchFamily="18" charset="0"/>
                <a:cs typeface="Times New Roman" panose="02020603050405020304" pitchFamily="18" charset="0"/>
              </a:rPr>
              <a:t>Premium (₹2.5L–₹10L) TVs have very limited presence</a:t>
            </a:r>
          </a:p>
          <a:p>
            <a:pPr marL="685800" indent="-457200" algn="just">
              <a:buFont typeface="+mj-lt"/>
              <a:buAutoNum type="arabicPeriod"/>
            </a:pPr>
            <a:r>
              <a:rPr lang="en-GB" dirty="0">
                <a:latin typeface="Times New Roman" panose="02020603050405020304" pitchFamily="18" charset="0"/>
                <a:cs typeface="Times New Roman" panose="02020603050405020304" pitchFamily="18" charset="0"/>
              </a:rPr>
              <a:t>Luxury Segment (&gt;₹10L) is almost non-existent</a:t>
            </a:r>
          </a:p>
        </p:txBody>
      </p:sp>
      <p:pic>
        <p:nvPicPr>
          <p:cNvPr id="6" name="Picture 5"/>
          <p:cNvPicPr>
            <a:picLocks noChangeAspect="1"/>
          </p:cNvPicPr>
          <p:nvPr/>
        </p:nvPicPr>
        <p:blipFill>
          <a:blip r:embed="rId2"/>
          <a:stretch>
            <a:fillRect/>
          </a:stretch>
        </p:blipFill>
        <p:spPr>
          <a:xfrm>
            <a:off x="650382" y="950233"/>
            <a:ext cx="3843356" cy="2159257"/>
          </a:xfrm>
          <a:prstGeom prst="rect">
            <a:avLst/>
          </a:prstGeom>
          <a:ln w="19050">
            <a:solidFill>
              <a:schemeClr val="tx1"/>
            </a:solidFill>
          </a:ln>
          <a:effectLst>
            <a:glow rad="101600">
              <a:schemeClr val="bg1">
                <a:lumMod val="65000"/>
                <a:alpha val="60000"/>
              </a:schemeClr>
            </a:glow>
          </a:effectLst>
        </p:spPr>
      </p:pic>
      <p:sp>
        <p:nvSpPr>
          <p:cNvPr id="8" name="Title 1"/>
          <p:cNvSpPr txBox="1">
            <a:spLocks/>
          </p:cNvSpPr>
          <p:nvPr/>
        </p:nvSpPr>
        <p:spPr>
          <a:xfrm>
            <a:off x="117695" y="3246517"/>
            <a:ext cx="8347295" cy="466818"/>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GB" sz="2400" b="1" dirty="0">
                <a:solidFill>
                  <a:srgbClr val="C00000"/>
                </a:solidFill>
                <a:latin typeface="Algerian" panose="04020705040A02060702" pitchFamily="82" charset="0"/>
              </a:rPr>
              <a:t>Display Technology Trends in the Smart TV Market</a:t>
            </a:r>
            <a:endParaRPr lang="en-IN" sz="2400" b="1" dirty="0">
              <a:solidFill>
                <a:srgbClr val="C00000"/>
              </a:solidFill>
              <a:latin typeface="Algerian" panose="04020705040A02060702" pitchFamily="82" charset="0"/>
              <a:cs typeface="Times New Roman" panose="02020603050405020304" pitchFamily="18" charset="0"/>
            </a:endParaRPr>
          </a:p>
        </p:txBody>
      </p:sp>
      <p:pic>
        <p:nvPicPr>
          <p:cNvPr id="9" name="Picture 8"/>
          <p:cNvPicPr>
            <a:picLocks noChangeAspect="1"/>
          </p:cNvPicPr>
          <p:nvPr/>
        </p:nvPicPr>
        <p:blipFill>
          <a:blip r:embed="rId3"/>
          <a:stretch>
            <a:fillRect/>
          </a:stretch>
        </p:blipFill>
        <p:spPr>
          <a:xfrm>
            <a:off x="208092" y="3850363"/>
            <a:ext cx="4879955" cy="2976507"/>
          </a:xfrm>
          <a:prstGeom prst="rect">
            <a:avLst/>
          </a:prstGeom>
          <a:ln w="28575">
            <a:noFill/>
          </a:ln>
        </p:spPr>
      </p:pic>
      <p:sp>
        <p:nvSpPr>
          <p:cNvPr id="10" name="Text Placeholder 3"/>
          <p:cNvSpPr txBox="1">
            <a:spLocks/>
          </p:cNvSpPr>
          <p:nvPr/>
        </p:nvSpPr>
        <p:spPr>
          <a:xfrm>
            <a:off x="5221585" y="3850363"/>
            <a:ext cx="6366851" cy="2564488"/>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r>
              <a:rPr lang="en-GB" sz="2000" b="1" dirty="0">
                <a:latin typeface="Times New Roman" panose="02020603050405020304" pitchFamily="18" charset="0"/>
                <a:cs typeface="Times New Roman" panose="02020603050405020304" pitchFamily="18" charset="0"/>
              </a:rPr>
              <a:t>Key Insights:</a:t>
            </a:r>
          </a:p>
          <a:p>
            <a:pPr indent="-457200" algn="just">
              <a:buFont typeface="+mj-lt"/>
              <a:buAutoNum type="arabicPeriod"/>
            </a:pPr>
            <a:r>
              <a:rPr lang="en-GB" dirty="0">
                <a:latin typeface="Times New Roman" panose="02020603050405020304" pitchFamily="18" charset="0"/>
                <a:cs typeface="Times New Roman" panose="02020603050405020304" pitchFamily="18" charset="0"/>
              </a:rPr>
              <a:t>LED TVs dominate the market with the highest number of models.</a:t>
            </a:r>
          </a:p>
          <a:p>
            <a:pPr indent="-457200" algn="just">
              <a:buFont typeface="+mj-lt"/>
              <a:buAutoNum type="arabicPeriod"/>
            </a:pPr>
            <a:r>
              <a:rPr lang="en-GB" dirty="0">
                <a:latin typeface="Times New Roman" panose="02020603050405020304" pitchFamily="18" charset="0"/>
                <a:cs typeface="Times New Roman" panose="02020603050405020304" pitchFamily="18" charset="0"/>
              </a:rPr>
              <a:t>QLED TVs form the second-largest share, mainly in mid to high price range.</a:t>
            </a:r>
          </a:p>
          <a:p>
            <a:pPr indent="-457200" algn="just">
              <a:buFont typeface="+mj-lt"/>
              <a:buAutoNum type="arabicPeriod"/>
            </a:pPr>
            <a:r>
              <a:rPr lang="en-GB" dirty="0">
                <a:latin typeface="Times New Roman" panose="02020603050405020304" pitchFamily="18" charset="0"/>
                <a:cs typeface="Times New Roman" panose="02020603050405020304" pitchFamily="18" charset="0"/>
              </a:rPr>
              <a:t>Mini LED and OLED TVs are limited but growing gradually.</a:t>
            </a:r>
          </a:p>
          <a:p>
            <a:pPr indent="-457200" algn="just">
              <a:buFont typeface="+mj-lt"/>
              <a:buAutoNum type="arabicPeriod"/>
            </a:pPr>
            <a:r>
              <a:rPr lang="en-GB" dirty="0">
                <a:latin typeface="Times New Roman" panose="02020603050405020304" pitchFamily="18" charset="0"/>
                <a:cs typeface="Times New Roman" panose="02020603050405020304" pitchFamily="18" charset="0"/>
              </a:rPr>
              <a:t>QNED and Neo QLED TVs have very few models - represent latest premium technology.</a:t>
            </a:r>
          </a:p>
          <a:p>
            <a:pPr algn="just"/>
            <a:endParaRPr lang="en-GB"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79146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059E5A2-CCC3-378C-8F14-658D9F0DDD87}"/>
              </a:ext>
            </a:extLst>
          </p:cNvPr>
          <p:cNvSpPr txBox="1"/>
          <p:nvPr/>
        </p:nvSpPr>
        <p:spPr>
          <a:xfrm>
            <a:off x="540774" y="245806"/>
            <a:ext cx="10617763" cy="707886"/>
          </a:xfrm>
          <a:prstGeom prst="rect">
            <a:avLst/>
          </a:prstGeom>
          <a:noFill/>
        </p:spPr>
        <p:txBody>
          <a:bodyPr wrap="square">
            <a:spAutoFit/>
          </a:bodyPr>
          <a:lstStyle/>
          <a:p>
            <a:r>
              <a:rPr lang="en-US" sz="2000" dirty="0">
                <a:solidFill>
                  <a:srgbClr val="C00000"/>
                </a:solidFill>
                <a:latin typeface="Algerian" panose="04020705040A02060702" pitchFamily="82" charset="0"/>
                <a:cs typeface="Times New Roman" panose="02020603050405020304" pitchFamily="18" charset="0"/>
              </a:rPr>
              <a:t>TVs were launched in the last 2 years is the catalog skewed toward newer   models</a:t>
            </a:r>
            <a:endParaRPr lang="en-IN" sz="2000" dirty="0">
              <a:solidFill>
                <a:srgbClr val="C00000"/>
              </a:solidFill>
              <a:latin typeface="Algerian" panose="04020705040A02060702" pitchFamily="82" charset="0"/>
            </a:endParaRPr>
          </a:p>
        </p:txBody>
      </p:sp>
      <p:sp>
        <p:nvSpPr>
          <p:cNvPr id="8" name="Title 1">
            <a:extLst>
              <a:ext uri="{FF2B5EF4-FFF2-40B4-BE49-F238E27FC236}">
                <a16:creationId xmlns:a16="http://schemas.microsoft.com/office/drawing/2014/main" id="{55876495-34BA-187A-BDD5-9494FE16F6C7}"/>
              </a:ext>
            </a:extLst>
          </p:cNvPr>
          <p:cNvSpPr txBox="1">
            <a:spLocks/>
          </p:cNvSpPr>
          <p:nvPr/>
        </p:nvSpPr>
        <p:spPr>
          <a:xfrm>
            <a:off x="0" y="165321"/>
            <a:ext cx="9008198" cy="493414"/>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endParaRPr lang="en-IN" sz="2400" b="1" dirty="0">
              <a:solidFill>
                <a:srgbClr val="C00000"/>
              </a:solidFill>
              <a:latin typeface="Algerian" panose="04020705040A02060702" pitchFamily="82" charset="0"/>
              <a:cs typeface="Times New Roman" panose="02020603050405020304" pitchFamily="18" charset="0"/>
            </a:endParaRPr>
          </a:p>
        </p:txBody>
      </p:sp>
      <p:sp>
        <p:nvSpPr>
          <p:cNvPr id="9" name="Text Placeholder 3">
            <a:extLst>
              <a:ext uri="{FF2B5EF4-FFF2-40B4-BE49-F238E27FC236}">
                <a16:creationId xmlns:a16="http://schemas.microsoft.com/office/drawing/2014/main" id="{B5A861FC-1F52-084C-9741-45FD90F1208B}"/>
              </a:ext>
            </a:extLst>
          </p:cNvPr>
          <p:cNvSpPr txBox="1">
            <a:spLocks/>
          </p:cNvSpPr>
          <p:nvPr/>
        </p:nvSpPr>
        <p:spPr>
          <a:xfrm>
            <a:off x="5251010" y="726401"/>
            <a:ext cx="6744345" cy="2233111"/>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n-GB" sz="2000" b="1" dirty="0">
                <a:latin typeface="Times New Roman" panose="02020603050405020304" pitchFamily="18" charset="0"/>
                <a:cs typeface="Times New Roman" panose="02020603050405020304" pitchFamily="18" charset="0"/>
              </a:rPr>
              <a:t>Key Insights:</a:t>
            </a:r>
          </a:p>
        </p:txBody>
      </p:sp>
      <p:sp>
        <p:nvSpPr>
          <p:cNvPr id="11" name="Title 1">
            <a:extLst>
              <a:ext uri="{FF2B5EF4-FFF2-40B4-BE49-F238E27FC236}">
                <a16:creationId xmlns:a16="http://schemas.microsoft.com/office/drawing/2014/main" id="{FAEFD67D-71CE-1ACA-C9EF-5859ACDAA694}"/>
              </a:ext>
            </a:extLst>
          </p:cNvPr>
          <p:cNvSpPr txBox="1">
            <a:spLocks/>
          </p:cNvSpPr>
          <p:nvPr/>
        </p:nvSpPr>
        <p:spPr>
          <a:xfrm>
            <a:off x="117695" y="3246517"/>
            <a:ext cx="11690847" cy="466818"/>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sz="2000" b="1" dirty="0">
                <a:solidFill>
                  <a:srgbClr val="C00000"/>
                </a:solidFill>
                <a:latin typeface="Algerian" panose="04020705040A02060702" pitchFamily="82" charset="0"/>
                <a:cs typeface="Times New Roman" panose="02020603050405020304" pitchFamily="18" charset="0"/>
              </a:rPr>
              <a:t>What sound output levels are most commonly offered do most TVs cluster around 20W or higher</a:t>
            </a:r>
            <a:endParaRPr lang="en-IN" sz="2000" b="1" dirty="0">
              <a:solidFill>
                <a:srgbClr val="C00000"/>
              </a:solidFill>
              <a:latin typeface="Algerian" panose="04020705040A02060702" pitchFamily="82" charset="0"/>
              <a:cs typeface="Times New Roman" panose="02020603050405020304" pitchFamily="18" charset="0"/>
            </a:endParaRPr>
          </a:p>
        </p:txBody>
      </p:sp>
      <p:sp>
        <p:nvSpPr>
          <p:cNvPr id="13" name="Text Placeholder 3">
            <a:extLst>
              <a:ext uri="{FF2B5EF4-FFF2-40B4-BE49-F238E27FC236}">
                <a16:creationId xmlns:a16="http://schemas.microsoft.com/office/drawing/2014/main" id="{57EBD230-973E-3B65-4937-C12DFEE31614}"/>
              </a:ext>
            </a:extLst>
          </p:cNvPr>
          <p:cNvSpPr txBox="1">
            <a:spLocks/>
          </p:cNvSpPr>
          <p:nvPr/>
        </p:nvSpPr>
        <p:spPr>
          <a:xfrm>
            <a:off x="5221585" y="3850363"/>
            <a:ext cx="6366851" cy="2564488"/>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r>
              <a:rPr lang="en-GB" sz="2000" b="1" dirty="0">
                <a:latin typeface="Times New Roman" panose="02020603050405020304" pitchFamily="18" charset="0"/>
                <a:cs typeface="Times New Roman" panose="02020603050405020304" pitchFamily="18" charset="0"/>
              </a:rPr>
              <a:t>Key Insights:</a:t>
            </a:r>
          </a:p>
          <a:p>
            <a:pPr marL="5143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Most TVs have a sound output around 20W, making it the most common level.</a:t>
            </a:r>
          </a:p>
          <a:p>
            <a:pPr marL="5143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 Only a few models go higher, so the majority are designed with standard 20W speakers.</a:t>
            </a:r>
            <a:endParaRPr lang="en-GB" sz="1800" dirty="0">
              <a:latin typeface="Times New Roman" panose="02020603050405020304" pitchFamily="18" charset="0"/>
              <a:cs typeface="Times New Roman" panose="02020603050405020304" pitchFamily="18" charset="0"/>
            </a:endParaRPr>
          </a:p>
        </p:txBody>
      </p:sp>
      <p:pic>
        <p:nvPicPr>
          <p:cNvPr id="16" name="Picture 15">
            <a:extLst>
              <a:ext uri="{FF2B5EF4-FFF2-40B4-BE49-F238E27FC236}">
                <a16:creationId xmlns:a16="http://schemas.microsoft.com/office/drawing/2014/main" id="{1414E4EA-F651-48D4-7215-D18BDE22E562}"/>
              </a:ext>
            </a:extLst>
          </p:cNvPr>
          <p:cNvPicPr>
            <a:picLocks noChangeAspect="1"/>
          </p:cNvPicPr>
          <p:nvPr/>
        </p:nvPicPr>
        <p:blipFill>
          <a:blip r:embed="rId2"/>
          <a:stretch>
            <a:fillRect/>
          </a:stretch>
        </p:blipFill>
        <p:spPr>
          <a:xfrm>
            <a:off x="629264" y="937415"/>
            <a:ext cx="4458783" cy="2022096"/>
          </a:xfrm>
          <a:prstGeom prst="rect">
            <a:avLst/>
          </a:prstGeom>
        </p:spPr>
      </p:pic>
      <p:sp>
        <p:nvSpPr>
          <p:cNvPr id="18" name="TextBox 17">
            <a:extLst>
              <a:ext uri="{FF2B5EF4-FFF2-40B4-BE49-F238E27FC236}">
                <a16:creationId xmlns:a16="http://schemas.microsoft.com/office/drawing/2014/main" id="{1F2F240A-83D3-882E-E8A7-7EFE5F4E50C3}"/>
              </a:ext>
            </a:extLst>
          </p:cNvPr>
          <p:cNvSpPr txBox="1"/>
          <p:nvPr/>
        </p:nvSpPr>
        <p:spPr>
          <a:xfrm>
            <a:off x="5366842" y="1075463"/>
            <a:ext cx="6076335" cy="1754326"/>
          </a:xfrm>
          <a:prstGeom prst="rect">
            <a:avLst/>
          </a:prstGeom>
          <a:noFill/>
        </p:spPr>
        <p:txBody>
          <a:bodyPr wrap="square">
            <a:spAutoFit/>
          </a:bodyPr>
          <a:lstStyle/>
          <a:p>
            <a:pPr marL="285750" lvl="1"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Manufacturers are increasingly releasing new smart TV models each year 2023 -2025</a:t>
            </a:r>
          </a:p>
          <a:p>
            <a:pPr marL="285750" lvl="1"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current latest technologies and models launched in the most recent years.2025</a:t>
            </a:r>
          </a:p>
          <a:p>
            <a:pPr marL="285750" lvl="1"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showing that the market is actively refreshed and focused on modern offerings.</a:t>
            </a:r>
            <a:endParaRPr lang="en-GB" sz="1800" dirty="0">
              <a:latin typeface="Times New Roman" panose="02020603050405020304" pitchFamily="18" charset="0"/>
              <a:cs typeface="Times New Roman" panose="02020603050405020304" pitchFamily="18" charset="0"/>
            </a:endParaRPr>
          </a:p>
        </p:txBody>
      </p:sp>
      <p:pic>
        <p:nvPicPr>
          <p:cNvPr id="23" name="Picture 22">
            <a:extLst>
              <a:ext uri="{FF2B5EF4-FFF2-40B4-BE49-F238E27FC236}">
                <a16:creationId xmlns:a16="http://schemas.microsoft.com/office/drawing/2014/main" id="{204A7666-41FF-F916-BEE0-2BDE5AAA2EAF}"/>
              </a:ext>
            </a:extLst>
          </p:cNvPr>
          <p:cNvPicPr>
            <a:picLocks noChangeAspect="1"/>
          </p:cNvPicPr>
          <p:nvPr/>
        </p:nvPicPr>
        <p:blipFill>
          <a:blip r:embed="rId3"/>
          <a:stretch>
            <a:fillRect/>
          </a:stretch>
        </p:blipFill>
        <p:spPr>
          <a:xfrm>
            <a:off x="629264" y="3713334"/>
            <a:ext cx="4458783" cy="2898859"/>
          </a:xfrm>
          <a:prstGeom prst="rect">
            <a:avLst/>
          </a:prstGeom>
        </p:spPr>
      </p:pic>
    </p:spTree>
    <p:extLst>
      <p:ext uri="{BB962C8B-B14F-4D97-AF65-F5344CB8AC3E}">
        <p14:creationId xmlns:p14="http://schemas.microsoft.com/office/powerpoint/2010/main" val="42062979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DAE0E1D5-739A-4D2B-8783-9CE97AB0BE44}"/>
              </a:ext>
            </a:extLst>
          </p:cNvPr>
          <p:cNvPicPr>
            <a:picLocks noChangeAspect="1"/>
          </p:cNvPicPr>
          <p:nvPr/>
        </p:nvPicPr>
        <p:blipFill>
          <a:blip r:embed="rId2"/>
          <a:stretch>
            <a:fillRect/>
          </a:stretch>
        </p:blipFill>
        <p:spPr>
          <a:xfrm>
            <a:off x="389335" y="833869"/>
            <a:ext cx="6172200" cy="2468564"/>
          </a:xfrm>
          <a:prstGeom prst="rect">
            <a:avLst/>
          </a:prstGeom>
        </p:spPr>
      </p:pic>
      <p:pic>
        <p:nvPicPr>
          <p:cNvPr id="20" name="Picture 19">
            <a:extLst>
              <a:ext uri="{FF2B5EF4-FFF2-40B4-BE49-F238E27FC236}">
                <a16:creationId xmlns:a16="http://schemas.microsoft.com/office/drawing/2014/main" id="{9CA783EF-DC65-4D09-B85A-82676C66BA7E}"/>
              </a:ext>
            </a:extLst>
          </p:cNvPr>
          <p:cNvPicPr>
            <a:picLocks noChangeAspect="1"/>
          </p:cNvPicPr>
          <p:nvPr/>
        </p:nvPicPr>
        <p:blipFill>
          <a:blip r:embed="rId3"/>
          <a:stretch>
            <a:fillRect/>
          </a:stretch>
        </p:blipFill>
        <p:spPr>
          <a:xfrm>
            <a:off x="389335" y="3933155"/>
            <a:ext cx="5688013" cy="2386013"/>
          </a:xfrm>
          <a:prstGeom prst="rect">
            <a:avLst/>
          </a:prstGeom>
        </p:spPr>
      </p:pic>
      <p:sp>
        <p:nvSpPr>
          <p:cNvPr id="22" name="TextBox 21">
            <a:extLst>
              <a:ext uri="{FF2B5EF4-FFF2-40B4-BE49-F238E27FC236}">
                <a16:creationId xmlns:a16="http://schemas.microsoft.com/office/drawing/2014/main" id="{3E6C24B9-DC0E-4AA7-9552-B8BB7123D521}"/>
              </a:ext>
            </a:extLst>
          </p:cNvPr>
          <p:cNvSpPr txBox="1"/>
          <p:nvPr/>
        </p:nvSpPr>
        <p:spPr>
          <a:xfrm>
            <a:off x="389334" y="3059668"/>
            <a:ext cx="11534179" cy="892552"/>
          </a:xfrm>
          <a:prstGeom prst="rect">
            <a:avLst/>
          </a:prstGeom>
          <a:noFill/>
        </p:spPr>
        <p:txBody>
          <a:bodyPr wrap="square">
            <a:spAutoFit/>
          </a:bodyPr>
          <a:lstStyle/>
          <a:p>
            <a:pPr algn="l"/>
            <a:br>
              <a:rPr lang="en-US" b="0" i="0" dirty="0">
                <a:solidFill>
                  <a:srgbClr val="0C0C0C"/>
                </a:solidFill>
                <a:effectLst/>
                <a:latin typeface="Inter" panose="020B0604020202020204" charset="0"/>
              </a:rPr>
            </a:br>
            <a:endParaRPr lang="en-US" b="0" i="0" dirty="0">
              <a:solidFill>
                <a:srgbClr val="0C0C0C"/>
              </a:solidFill>
              <a:effectLst/>
              <a:latin typeface="Inter" panose="020B0604020202020204" charset="0"/>
            </a:endParaRPr>
          </a:p>
          <a:p>
            <a:pPr algn="l"/>
            <a:r>
              <a:rPr lang="en-US" sz="2400" b="0" i="0" dirty="0">
                <a:solidFill>
                  <a:srgbClr val="C00000"/>
                </a:solidFill>
                <a:effectLst/>
                <a:latin typeface="Algerian" panose="04020705040A02060702" pitchFamily="82" charset="0"/>
              </a:rPr>
              <a:t>What is the overall customer satisfaction level based on ratings?</a:t>
            </a:r>
          </a:p>
        </p:txBody>
      </p:sp>
      <p:sp>
        <p:nvSpPr>
          <p:cNvPr id="26" name="TextBox 25">
            <a:extLst>
              <a:ext uri="{FF2B5EF4-FFF2-40B4-BE49-F238E27FC236}">
                <a16:creationId xmlns:a16="http://schemas.microsoft.com/office/drawing/2014/main" id="{7200BF7E-E49B-4C92-A3B7-7345D9279B67}"/>
              </a:ext>
            </a:extLst>
          </p:cNvPr>
          <p:cNvSpPr txBox="1"/>
          <p:nvPr/>
        </p:nvSpPr>
        <p:spPr>
          <a:xfrm>
            <a:off x="268486" y="-262195"/>
            <a:ext cx="11655028" cy="1200329"/>
          </a:xfrm>
          <a:prstGeom prst="rect">
            <a:avLst/>
          </a:prstGeom>
          <a:noFill/>
        </p:spPr>
        <p:txBody>
          <a:bodyPr wrap="square">
            <a:spAutoFit/>
          </a:bodyPr>
          <a:lstStyle/>
          <a:p>
            <a:br>
              <a:rPr lang="en-US" sz="2400" dirty="0">
                <a:solidFill>
                  <a:srgbClr val="FF0000"/>
                </a:solidFill>
                <a:latin typeface="Algerian" panose="04020705040A02060702" pitchFamily="82" charset="0"/>
              </a:rPr>
            </a:br>
            <a:r>
              <a:rPr lang="en-US" sz="2400" b="0" i="0" dirty="0">
                <a:solidFill>
                  <a:srgbClr val="C00000"/>
                </a:solidFill>
                <a:effectLst/>
                <a:latin typeface="Algerian" panose="04020705040A02060702" pitchFamily="82" charset="0"/>
              </a:rPr>
              <a:t>What is the distribution of Ratings across all smart TVs — and how many TVs are rated above 4.5?</a:t>
            </a:r>
            <a:endParaRPr lang="en-US" sz="2400" dirty="0">
              <a:solidFill>
                <a:srgbClr val="C00000"/>
              </a:solidFill>
              <a:latin typeface="Algerian" panose="04020705040A02060702" pitchFamily="82" charset="0"/>
            </a:endParaRPr>
          </a:p>
        </p:txBody>
      </p:sp>
      <p:sp>
        <p:nvSpPr>
          <p:cNvPr id="27" name="Rectangle 1">
            <a:extLst>
              <a:ext uri="{FF2B5EF4-FFF2-40B4-BE49-F238E27FC236}">
                <a16:creationId xmlns:a16="http://schemas.microsoft.com/office/drawing/2014/main" id="{6657CA95-6A88-4859-A249-821020D9C723}"/>
              </a:ext>
            </a:extLst>
          </p:cNvPr>
          <p:cNvSpPr>
            <a:spLocks noGrp="1" noChangeArrowheads="1"/>
          </p:cNvSpPr>
          <p:nvPr>
            <p:ph type="body" idx="1"/>
          </p:nvPr>
        </p:nvSpPr>
        <p:spPr bwMode="auto">
          <a:xfrm>
            <a:off x="6244538" y="948351"/>
            <a:ext cx="5947462"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indent="0" algn="just" eaLnBrk="0" fontAlgn="base" hangingPunct="0">
              <a:lnSpc>
                <a:spcPct val="100000"/>
              </a:lnSpc>
              <a:spcBef>
                <a:spcPct val="0"/>
              </a:spcBef>
              <a:spcAft>
                <a:spcPct val="0"/>
              </a:spcAft>
              <a:buClrTx/>
              <a:buSzTx/>
            </a:pPr>
            <a:r>
              <a:rPr lang="en-GB" sz="2000" b="1" dirty="0">
                <a:latin typeface="Times New Roman" panose="02020603050405020304" pitchFamily="18" charset="0"/>
                <a:cs typeface="Times New Roman" panose="02020603050405020304" pitchFamily="18" charset="0"/>
              </a:rPr>
              <a:t>Key Insights:</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1.Customer satisfaction for the smart TVs in this dataset</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generally very high</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r>
              <a:rPr lang="en-US" altLang="en-US" sz="2000" dirty="0">
                <a:solidFill>
                  <a:schemeClr val="tx1"/>
                </a:solidFill>
                <a:latin typeface="Times New Roman" panose="02020603050405020304" pitchFamily="18" charset="0"/>
                <a:cs typeface="Times New Roman" panose="02020603050405020304" pitchFamily="18" charset="0"/>
              </a:rPr>
              <a:t>2.</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distribution of ratings is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heavily left-skewed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r>
              <a:rPr lang="en-US" altLang="en-US" sz="2000" dirty="0">
                <a:solidFill>
                  <a:schemeClr val="tx1"/>
                </a:solidFill>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meaning most products receive high scores.</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3.The most frequent rating is around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4.0 to 4.2</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r>
              <a:rPr lang="en-US" altLang="en-US" sz="2000" dirty="0">
                <a:solidFill>
                  <a:schemeClr val="tx1"/>
                </a:solidFill>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significant clusters also rated around 4.5 and 5.0.</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4.Very few TVs received ratings below 3.5.</a:t>
            </a:r>
          </a:p>
        </p:txBody>
      </p:sp>
      <p:sp>
        <p:nvSpPr>
          <p:cNvPr id="29" name="TextBox 28">
            <a:extLst>
              <a:ext uri="{FF2B5EF4-FFF2-40B4-BE49-F238E27FC236}">
                <a16:creationId xmlns:a16="http://schemas.microsoft.com/office/drawing/2014/main" id="{350CDDE2-382A-4A33-B4D6-124A9AA30972}"/>
              </a:ext>
            </a:extLst>
          </p:cNvPr>
          <p:cNvSpPr txBox="1"/>
          <p:nvPr/>
        </p:nvSpPr>
        <p:spPr>
          <a:xfrm>
            <a:off x="5958590" y="4131943"/>
            <a:ext cx="6100996" cy="2554545"/>
          </a:xfrm>
          <a:prstGeom prst="rect">
            <a:avLst/>
          </a:prstGeom>
          <a:noFill/>
        </p:spPr>
        <p:txBody>
          <a:bodyPr wrap="square">
            <a:spAutoFit/>
          </a:bodyPr>
          <a:lstStyle/>
          <a:p>
            <a:r>
              <a:rPr lang="en-GB" sz="2000" b="1" dirty="0">
                <a:latin typeface="Times New Roman" panose="02020603050405020304" pitchFamily="18" charset="0"/>
                <a:cs typeface="Times New Roman" panose="02020603050405020304" pitchFamily="18" charset="0"/>
              </a:rPr>
              <a:t>Key Insights:</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The histogram confirms high customer satisfaction, with the vast majority of ratings falling between </a:t>
            </a:r>
            <a:r>
              <a:rPr lang="en-US" sz="2000" b="1" dirty="0">
                <a:latin typeface="Times New Roman" panose="02020603050405020304" pitchFamily="18" charset="0"/>
                <a:cs typeface="Times New Roman" panose="02020603050405020304" pitchFamily="18" charset="0"/>
              </a:rPr>
              <a:t>3.8 and 5.0</a:t>
            </a:r>
            <a:r>
              <a:rPr lang="en-US" sz="2000" dirty="0">
                <a:latin typeface="Times New Roman" panose="02020603050405020304" pitchFamily="18" charset="0"/>
                <a:cs typeface="Times New Roman" panose="02020603050405020304" pitchFamily="18" charset="0"/>
              </a:rPr>
              <a:t>.</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Approximately </a:t>
            </a:r>
            <a:r>
              <a:rPr lang="en-US" sz="2000" b="1" dirty="0">
                <a:latin typeface="Times New Roman" panose="02020603050405020304" pitchFamily="18" charset="0"/>
                <a:cs typeface="Times New Roman" panose="02020603050405020304" pitchFamily="18" charset="0"/>
              </a:rPr>
              <a:t>70 TVs</a:t>
            </a:r>
            <a:r>
              <a:rPr lang="en-US" sz="2000" dirty="0">
                <a:latin typeface="Times New Roman" panose="02020603050405020304" pitchFamily="18" charset="0"/>
                <a:cs typeface="Times New Roman" panose="02020603050405020304" pitchFamily="18" charset="0"/>
              </a:rPr>
              <a:t> in the dataset fall into the top-performing category with a rating above 4.5.</a:t>
            </a:r>
          </a:p>
          <a:p>
            <a:pPr marL="457200" indent="-457200">
              <a:buFont typeface="+mj-lt"/>
              <a:buAutoNum type="arabicPeriod"/>
            </a:pPr>
            <a:endParaRPr lang="en-GB" sz="2000" b="1" dirty="0">
              <a:latin typeface="Times New Roman" panose="02020603050405020304" pitchFamily="18" charset="0"/>
              <a:cs typeface="Times New Roman" panose="02020603050405020304" pitchFamily="18" charset="0"/>
            </a:endParaRPr>
          </a:p>
          <a:p>
            <a:pPr marL="457200" indent="-457200">
              <a:buFont typeface="+mj-lt"/>
              <a:buAutoNum type="arabicPeriod"/>
            </a:pPr>
            <a:endParaRPr lang="en-GB"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50881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4">
            <a:extLst>
              <a:ext uri="{FF2B5EF4-FFF2-40B4-BE49-F238E27FC236}">
                <a16:creationId xmlns:a16="http://schemas.microsoft.com/office/drawing/2014/main" id="{56670AA4-D69D-41DB-B5C8-BD99A21F9F68}"/>
              </a:ext>
            </a:extLst>
          </p:cNvPr>
          <p:cNvSpPr txBox="1">
            <a:spLocks/>
          </p:cNvSpPr>
          <p:nvPr/>
        </p:nvSpPr>
        <p:spPr>
          <a:xfrm>
            <a:off x="757284" y="2679983"/>
            <a:ext cx="4131587" cy="1325563"/>
          </a:xfrm>
          <a:prstGeom prst="rect">
            <a:avLst/>
          </a:prstGeom>
          <a:noFill/>
          <a:ln>
            <a:noFill/>
          </a:ln>
        </p:spPr>
        <p:txBody>
          <a:bodyPr spcFirstLastPara="1" wrap="square" lIns="91425" tIns="45700" rIns="91425" bIns="45700" anchor="b" anchorCtr="0">
            <a:normAutofit fontScale="90000" lnSpcReduction="10000"/>
          </a:bodyPr>
          <a:lstStyle>
            <a:defPPr marR="0" lvl="0" algn="l" rtl="0">
              <a:lnSpc>
                <a:spcPct val="100000"/>
              </a:lnSpc>
              <a:spcBef>
                <a:spcPts val="0"/>
              </a:spcBef>
              <a:spcAft>
                <a:spcPts val="0"/>
              </a:spcAft>
            </a:defPPr>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5400" dirty="0">
                <a:solidFill>
                  <a:srgbClr val="C00000"/>
                </a:solidFill>
                <a:latin typeface="Algerian" panose="04020705040A02060702" pitchFamily="82" charset="0"/>
              </a:rPr>
              <a:t>BiVARIATE</a:t>
            </a:r>
            <a:br>
              <a:rPr lang="en-US" sz="5400" dirty="0">
                <a:solidFill>
                  <a:srgbClr val="C00000"/>
                </a:solidFill>
                <a:latin typeface="Algerian" panose="04020705040A02060702" pitchFamily="82" charset="0"/>
              </a:rPr>
            </a:br>
            <a:r>
              <a:rPr lang="en-US" sz="5400" dirty="0">
                <a:solidFill>
                  <a:srgbClr val="C00000"/>
                </a:solidFill>
                <a:latin typeface="Algerian" panose="04020705040A02060702" pitchFamily="82" charset="0"/>
              </a:rPr>
              <a:t>ANALYSIS</a:t>
            </a:r>
          </a:p>
        </p:txBody>
      </p:sp>
    </p:spTree>
    <p:extLst>
      <p:ext uri="{BB962C8B-B14F-4D97-AF65-F5344CB8AC3E}">
        <p14:creationId xmlns:p14="http://schemas.microsoft.com/office/powerpoint/2010/main" val="1960071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450489" y="1966999"/>
            <a:ext cx="4882002" cy="3811588"/>
          </a:xfrm>
        </p:spPr>
        <p:txBody>
          <a:bodyPr/>
          <a:lstStyle/>
          <a:p>
            <a:pPr algn="just"/>
            <a:r>
              <a:rPr lang="en-GB" sz="2200" b="1" dirty="0">
                <a:latin typeface="Times New Roman" panose="02020603050405020304" pitchFamily="18" charset="0"/>
                <a:cs typeface="Times New Roman" panose="02020603050405020304" pitchFamily="18" charset="0"/>
              </a:rPr>
              <a:t>Key Insights:</a:t>
            </a:r>
            <a:endParaRPr lang="en-GB" sz="1000" b="1"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GB" sz="2000" dirty="0">
                <a:latin typeface="Times New Roman" panose="02020603050405020304" pitchFamily="18" charset="0"/>
                <a:cs typeface="Times New Roman" panose="02020603050405020304" pitchFamily="18" charset="0"/>
              </a:rPr>
              <a:t>Smart TVs were most expensive around 2017–2018</a:t>
            </a:r>
          </a:p>
          <a:p>
            <a:pPr marL="342900" indent="-342900" algn="just">
              <a:buFont typeface="+mj-lt"/>
              <a:buAutoNum type="arabicPeriod"/>
            </a:pPr>
            <a:r>
              <a:rPr lang="en-GB" sz="2000" dirty="0">
                <a:latin typeface="Times New Roman" panose="02020603050405020304" pitchFamily="18" charset="0"/>
                <a:cs typeface="Times New Roman" panose="02020603050405020304" pitchFamily="18" charset="0"/>
              </a:rPr>
              <a:t>Noticeable drop in prices after 2018</a:t>
            </a:r>
          </a:p>
          <a:p>
            <a:pPr marL="342900" indent="-342900" algn="just">
              <a:buFont typeface="+mj-lt"/>
              <a:buAutoNum type="arabicPeriod"/>
            </a:pPr>
            <a:r>
              <a:rPr lang="en-GB" sz="2000" dirty="0">
                <a:latin typeface="Times New Roman" panose="02020603050405020304" pitchFamily="18" charset="0"/>
                <a:cs typeface="Times New Roman" panose="02020603050405020304" pitchFamily="18" charset="0"/>
              </a:rPr>
              <a:t>Prices stayed stable between 2020 and 2021</a:t>
            </a:r>
          </a:p>
          <a:p>
            <a:pPr marL="342900" indent="-342900" algn="just">
              <a:buFont typeface="+mj-lt"/>
              <a:buAutoNum type="arabicPeriod"/>
            </a:pPr>
            <a:r>
              <a:rPr lang="en-GB" sz="2000" dirty="0">
                <a:latin typeface="Times New Roman" panose="02020603050405020304" pitchFamily="18" charset="0"/>
                <a:cs typeface="Times New Roman" panose="02020603050405020304" pitchFamily="18" charset="0"/>
              </a:rPr>
              <a:t>Slight price increase in 2024 model.</a:t>
            </a:r>
          </a:p>
        </p:txBody>
      </p:sp>
      <p:pic>
        <p:nvPicPr>
          <p:cNvPr id="6" name="Picture 5"/>
          <p:cNvPicPr>
            <a:picLocks noChangeAspect="1"/>
          </p:cNvPicPr>
          <p:nvPr/>
        </p:nvPicPr>
        <p:blipFill>
          <a:blip r:embed="rId2"/>
          <a:stretch>
            <a:fillRect/>
          </a:stretch>
        </p:blipFill>
        <p:spPr>
          <a:xfrm>
            <a:off x="6074876" y="1586754"/>
            <a:ext cx="5341544" cy="3908699"/>
          </a:xfrm>
          <a:prstGeom prst="rect">
            <a:avLst/>
          </a:prstGeom>
        </p:spPr>
      </p:pic>
      <p:sp>
        <p:nvSpPr>
          <p:cNvPr id="7" name="Title 1"/>
          <p:cNvSpPr txBox="1">
            <a:spLocks/>
          </p:cNvSpPr>
          <p:nvPr/>
        </p:nvSpPr>
        <p:spPr>
          <a:xfrm>
            <a:off x="153911" y="534154"/>
            <a:ext cx="5703682" cy="853423"/>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2400" b="1" dirty="0">
                <a:solidFill>
                  <a:srgbClr val="C00000"/>
                </a:solidFill>
                <a:latin typeface="Algerian" panose="04020705040A02060702" pitchFamily="82" charset="0"/>
              </a:rPr>
              <a:t>Price Trends Across Different Launch Years</a:t>
            </a:r>
            <a:endParaRPr lang="en-IN" sz="2400" b="1" dirty="0">
              <a:solidFill>
                <a:srgbClr val="C00000"/>
              </a:solidFill>
              <a:latin typeface="Algerian" panose="04020705040A02060702" pitchFamily="82" charset="0"/>
              <a:cs typeface="Times New Roman" panose="02020603050405020304" pitchFamily="18" charset="0"/>
            </a:endParaRPr>
          </a:p>
        </p:txBody>
      </p:sp>
    </p:spTree>
    <p:extLst>
      <p:ext uri="{BB962C8B-B14F-4D97-AF65-F5344CB8AC3E}">
        <p14:creationId xmlns:p14="http://schemas.microsoft.com/office/powerpoint/2010/main" val="33841323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a:xfrm>
            <a:off x="153911" y="534154"/>
            <a:ext cx="5703682" cy="853423"/>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2400" b="1" dirty="0">
                <a:solidFill>
                  <a:srgbClr val="C00000"/>
                </a:solidFill>
                <a:latin typeface="Algerian" panose="04020705040A02060702" pitchFamily="82" charset="0"/>
              </a:rPr>
              <a:t>Evolution of Display Quality in Smart TVs Over the Years</a:t>
            </a:r>
            <a:endParaRPr lang="en-IN" sz="2400" b="1" dirty="0">
              <a:solidFill>
                <a:srgbClr val="C00000"/>
              </a:solidFill>
              <a:latin typeface="Algerian" panose="04020705040A02060702" pitchFamily="82" charset="0"/>
              <a:cs typeface="Times New Roman" panose="02020603050405020304" pitchFamily="18" charset="0"/>
            </a:endParaRPr>
          </a:p>
        </p:txBody>
      </p:sp>
      <p:sp>
        <p:nvSpPr>
          <p:cNvPr id="10" name="Text Placeholder 3"/>
          <p:cNvSpPr txBox="1">
            <a:spLocks/>
          </p:cNvSpPr>
          <p:nvPr/>
        </p:nvSpPr>
        <p:spPr>
          <a:xfrm>
            <a:off x="450488" y="1966999"/>
            <a:ext cx="5407105" cy="2514466"/>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40640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L="914400" marR="0" lvl="1" indent="-381000"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L="1371600" marR="0" lvl="2" indent="-355600"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L="1828800" marR="0" lvl="3"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L="2286000" marR="0" lvl="4"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L="2743200" marR="0" lvl="5"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pPr algn="just"/>
            <a:r>
              <a:rPr lang="en-GB" sz="2200" b="1" dirty="0">
                <a:latin typeface="Times New Roman" panose="02020603050405020304" pitchFamily="18" charset="0"/>
                <a:cs typeface="Times New Roman" panose="02020603050405020304" pitchFamily="18" charset="0"/>
              </a:rPr>
              <a:t>Key Insights:</a:t>
            </a:r>
          </a:p>
          <a:p>
            <a:pPr indent="-457200" algn="just">
              <a:buFont typeface="+mj-lt"/>
              <a:buAutoNum type="arabicPeriod"/>
            </a:pPr>
            <a:r>
              <a:rPr lang="en-GB" sz="2000" dirty="0">
                <a:latin typeface="Times New Roman" panose="02020603050405020304" pitchFamily="18" charset="0"/>
                <a:cs typeface="Times New Roman" panose="02020603050405020304" pitchFamily="18" charset="0"/>
              </a:rPr>
              <a:t>LED TVs are dominant across all years</a:t>
            </a:r>
          </a:p>
          <a:p>
            <a:pPr marL="342900" indent="-342900" algn="just">
              <a:buFont typeface="+mj-lt"/>
              <a:buAutoNum type="arabicPeriod"/>
            </a:pPr>
            <a:r>
              <a:rPr lang="en-GB" sz="2000" dirty="0">
                <a:latin typeface="Times New Roman" panose="02020603050405020304" pitchFamily="18" charset="0"/>
                <a:cs typeface="Times New Roman" panose="02020603050405020304" pitchFamily="18" charset="0"/>
              </a:rPr>
              <a:t>QLED TVs grew strongly after 2022</a:t>
            </a:r>
          </a:p>
          <a:p>
            <a:pPr marL="342900" indent="-342900" algn="just">
              <a:buFont typeface="+mj-lt"/>
              <a:buAutoNum type="arabicPeriod"/>
            </a:pPr>
            <a:r>
              <a:rPr lang="en-GB" sz="2000" dirty="0">
                <a:latin typeface="Times New Roman" panose="02020603050405020304" pitchFamily="18" charset="0"/>
                <a:cs typeface="Times New Roman" panose="02020603050405020304" pitchFamily="18" charset="0"/>
              </a:rPr>
              <a:t>OLED and Mini LED are slowly rising</a:t>
            </a:r>
          </a:p>
          <a:p>
            <a:pPr marL="342900" indent="-342900" algn="just">
              <a:buFont typeface="+mj-lt"/>
              <a:buAutoNum type="arabicPeriod"/>
            </a:pPr>
            <a:r>
              <a:rPr lang="en-GB" sz="2000" dirty="0">
                <a:latin typeface="Times New Roman" panose="02020603050405020304" pitchFamily="18" charset="0"/>
                <a:cs typeface="Times New Roman" panose="02020603050405020304" pitchFamily="18" charset="0"/>
              </a:rPr>
              <a:t>New display types like Neo QLED and QNED just started</a:t>
            </a:r>
          </a:p>
        </p:txBody>
      </p:sp>
      <p:pic>
        <p:nvPicPr>
          <p:cNvPr id="11" name="Picture 10"/>
          <p:cNvPicPr>
            <a:picLocks noChangeAspect="1"/>
          </p:cNvPicPr>
          <p:nvPr/>
        </p:nvPicPr>
        <p:blipFill>
          <a:blip r:embed="rId2"/>
          <a:stretch>
            <a:fillRect/>
          </a:stretch>
        </p:blipFill>
        <p:spPr>
          <a:xfrm>
            <a:off x="6341152" y="1487267"/>
            <a:ext cx="4652904" cy="3999133"/>
          </a:xfrm>
          <a:prstGeom prst="rect">
            <a:avLst/>
          </a:prstGeom>
        </p:spPr>
      </p:pic>
    </p:spTree>
    <p:extLst>
      <p:ext uri="{BB962C8B-B14F-4D97-AF65-F5344CB8AC3E}">
        <p14:creationId xmlns:p14="http://schemas.microsoft.com/office/powerpoint/2010/main" val="11598826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0E091-5B0B-44C4-EA89-0A464D541030}"/>
              </a:ext>
            </a:extLst>
          </p:cNvPr>
          <p:cNvSpPr txBox="1">
            <a:spLocks/>
          </p:cNvSpPr>
          <p:nvPr/>
        </p:nvSpPr>
        <p:spPr>
          <a:xfrm>
            <a:off x="0" y="165321"/>
            <a:ext cx="9008198" cy="493414"/>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dirty="0">
                <a:solidFill>
                  <a:srgbClr val="C00000"/>
                </a:solidFill>
                <a:latin typeface="Algerian" panose="04020705040A02060702" pitchFamily="82" charset="0"/>
                <a:cs typeface="Times New Roman" panose="02020603050405020304" pitchFamily="18" charset="0"/>
              </a:rPr>
              <a:t> Do deeper discounts correlate with higher or lower customer satisfaction</a:t>
            </a:r>
            <a:endParaRPr lang="en-IN" sz="2000" b="1" dirty="0">
              <a:solidFill>
                <a:srgbClr val="C00000"/>
              </a:solidFill>
              <a:latin typeface="Algerian" panose="04020705040A02060702" pitchFamily="82" charset="0"/>
              <a:cs typeface="Times New Roman" panose="02020603050405020304" pitchFamily="18" charset="0"/>
            </a:endParaRPr>
          </a:p>
        </p:txBody>
      </p:sp>
      <p:sp>
        <p:nvSpPr>
          <p:cNvPr id="3" name="Text Placeholder 3">
            <a:extLst>
              <a:ext uri="{FF2B5EF4-FFF2-40B4-BE49-F238E27FC236}">
                <a16:creationId xmlns:a16="http://schemas.microsoft.com/office/drawing/2014/main" id="{119857A8-3C1F-7E51-97C6-57B715E38D0B}"/>
              </a:ext>
            </a:extLst>
          </p:cNvPr>
          <p:cNvSpPr txBox="1">
            <a:spLocks/>
          </p:cNvSpPr>
          <p:nvPr/>
        </p:nvSpPr>
        <p:spPr>
          <a:xfrm>
            <a:off x="5251010" y="950233"/>
            <a:ext cx="6835365" cy="2159257"/>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n-GB" sz="2000" b="1" dirty="0">
                <a:latin typeface="Times New Roman" panose="02020603050405020304" pitchFamily="18" charset="0"/>
                <a:cs typeface="Times New Roman" panose="02020603050405020304" pitchFamily="18" charset="0"/>
              </a:rPr>
              <a:t>Key Insights: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heatmap shows a negative correlation (-0.26) between discount percentage and ratings.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customer ratings tend to drop a little products with higher discounts may not satisfy customers</a:t>
            </a:r>
            <a:endParaRPr lang="en-GB" sz="2000" dirty="0">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99950FA5-ABE8-1BA6-D125-A285401C09E4}"/>
              </a:ext>
            </a:extLst>
          </p:cNvPr>
          <p:cNvSpPr txBox="1">
            <a:spLocks/>
          </p:cNvSpPr>
          <p:nvPr/>
        </p:nvSpPr>
        <p:spPr>
          <a:xfrm>
            <a:off x="117695" y="3246517"/>
            <a:ext cx="8054755" cy="466818"/>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sz="2000" b="1" dirty="0">
                <a:solidFill>
                  <a:srgbClr val="C00000"/>
                </a:solidFill>
                <a:latin typeface="Algerian" panose="04020705040A02060702" pitchFamily="82" charset="0"/>
                <a:cs typeface="Times New Roman" panose="02020603050405020304" pitchFamily="18" charset="0"/>
              </a:rPr>
              <a:t>Do larger TVs consistently offer higher sound output</a:t>
            </a:r>
            <a:endParaRPr lang="en-IN" sz="2000" b="1" dirty="0">
              <a:solidFill>
                <a:srgbClr val="C00000"/>
              </a:solidFill>
              <a:latin typeface="Algerian" panose="04020705040A02060702" pitchFamily="82" charset="0"/>
              <a:cs typeface="Times New Roman" panose="02020603050405020304" pitchFamily="18" charset="0"/>
            </a:endParaRPr>
          </a:p>
        </p:txBody>
      </p:sp>
      <p:sp>
        <p:nvSpPr>
          <p:cNvPr id="7" name="Text Placeholder 3">
            <a:extLst>
              <a:ext uri="{FF2B5EF4-FFF2-40B4-BE49-F238E27FC236}">
                <a16:creationId xmlns:a16="http://schemas.microsoft.com/office/drawing/2014/main" id="{C2515A7A-50AF-6FA9-0A94-64A214E0965F}"/>
              </a:ext>
            </a:extLst>
          </p:cNvPr>
          <p:cNvSpPr txBox="1">
            <a:spLocks/>
          </p:cNvSpPr>
          <p:nvPr/>
        </p:nvSpPr>
        <p:spPr>
          <a:xfrm>
            <a:off x="5221585" y="3850363"/>
            <a:ext cx="6366851" cy="2564488"/>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r>
              <a:rPr lang="en-GB" sz="2000" b="1" dirty="0">
                <a:latin typeface="Times New Roman" panose="02020603050405020304" pitchFamily="18" charset="0"/>
                <a:cs typeface="Times New Roman" panose="02020603050405020304" pitchFamily="18" charset="0"/>
              </a:rPr>
              <a:t>Key Insights:</a:t>
            </a:r>
          </a:p>
          <a:p>
            <a:pPr marL="5143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 clear positive correlation shows that larger TVs (≥ 55 inches) consistently feature higher-than-average sound output.</a:t>
            </a:r>
            <a:endParaRPr lang="en-GB" sz="18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D0306D10-C26C-A93F-80C0-B730A2923F14}"/>
              </a:ext>
            </a:extLst>
          </p:cNvPr>
          <p:cNvPicPr>
            <a:picLocks noChangeAspect="1"/>
          </p:cNvPicPr>
          <p:nvPr/>
        </p:nvPicPr>
        <p:blipFill>
          <a:blip r:embed="rId2"/>
          <a:stretch>
            <a:fillRect/>
          </a:stretch>
        </p:blipFill>
        <p:spPr>
          <a:xfrm>
            <a:off x="459944" y="658735"/>
            <a:ext cx="4761641" cy="2450754"/>
          </a:xfrm>
          <a:prstGeom prst="rect">
            <a:avLst/>
          </a:prstGeom>
        </p:spPr>
      </p:pic>
      <p:pic>
        <p:nvPicPr>
          <p:cNvPr id="11" name="Picture 10">
            <a:extLst>
              <a:ext uri="{FF2B5EF4-FFF2-40B4-BE49-F238E27FC236}">
                <a16:creationId xmlns:a16="http://schemas.microsoft.com/office/drawing/2014/main" id="{2444520E-C720-250F-A710-7A9C420B229C}"/>
              </a:ext>
            </a:extLst>
          </p:cNvPr>
          <p:cNvPicPr>
            <a:picLocks noChangeAspect="1"/>
          </p:cNvPicPr>
          <p:nvPr/>
        </p:nvPicPr>
        <p:blipFill>
          <a:blip r:embed="rId3"/>
          <a:stretch>
            <a:fillRect/>
          </a:stretch>
        </p:blipFill>
        <p:spPr>
          <a:xfrm>
            <a:off x="603564" y="3713335"/>
            <a:ext cx="4469881" cy="2584843"/>
          </a:xfrm>
          <a:prstGeom prst="rect">
            <a:avLst/>
          </a:prstGeom>
        </p:spPr>
      </p:pic>
    </p:spTree>
    <p:extLst>
      <p:ext uri="{BB962C8B-B14F-4D97-AF65-F5344CB8AC3E}">
        <p14:creationId xmlns:p14="http://schemas.microsoft.com/office/powerpoint/2010/main" val="9975844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6E2663D-E082-4E5E-ABCB-1679E181B431}"/>
              </a:ext>
            </a:extLst>
          </p:cNvPr>
          <p:cNvPicPr>
            <a:picLocks noChangeAspect="1"/>
          </p:cNvPicPr>
          <p:nvPr/>
        </p:nvPicPr>
        <p:blipFill>
          <a:blip r:embed="rId2"/>
          <a:stretch>
            <a:fillRect/>
          </a:stretch>
        </p:blipFill>
        <p:spPr>
          <a:xfrm>
            <a:off x="576198" y="834254"/>
            <a:ext cx="4443764" cy="2195734"/>
          </a:xfrm>
          <a:prstGeom prst="rect">
            <a:avLst/>
          </a:prstGeom>
        </p:spPr>
      </p:pic>
      <p:pic>
        <p:nvPicPr>
          <p:cNvPr id="5" name="Picture 4">
            <a:extLst>
              <a:ext uri="{FF2B5EF4-FFF2-40B4-BE49-F238E27FC236}">
                <a16:creationId xmlns:a16="http://schemas.microsoft.com/office/drawing/2014/main" id="{8CC507E3-9E51-474B-9EFD-9EF2759D4710}"/>
              </a:ext>
            </a:extLst>
          </p:cNvPr>
          <p:cNvPicPr>
            <a:picLocks noChangeAspect="1"/>
          </p:cNvPicPr>
          <p:nvPr/>
        </p:nvPicPr>
        <p:blipFill>
          <a:blip r:embed="rId3"/>
          <a:stretch>
            <a:fillRect/>
          </a:stretch>
        </p:blipFill>
        <p:spPr>
          <a:xfrm>
            <a:off x="361885" y="3589437"/>
            <a:ext cx="4105848" cy="3124636"/>
          </a:xfrm>
          <a:prstGeom prst="rect">
            <a:avLst/>
          </a:prstGeom>
        </p:spPr>
      </p:pic>
      <p:sp>
        <p:nvSpPr>
          <p:cNvPr id="7" name="TextBox 6">
            <a:extLst>
              <a:ext uri="{FF2B5EF4-FFF2-40B4-BE49-F238E27FC236}">
                <a16:creationId xmlns:a16="http://schemas.microsoft.com/office/drawing/2014/main" id="{912ED382-D043-4E50-BFAE-FF0CBCFD5892}"/>
              </a:ext>
            </a:extLst>
          </p:cNvPr>
          <p:cNvSpPr txBox="1"/>
          <p:nvPr/>
        </p:nvSpPr>
        <p:spPr>
          <a:xfrm>
            <a:off x="361884" y="3160811"/>
            <a:ext cx="9653653" cy="461665"/>
          </a:xfrm>
          <a:prstGeom prst="rect">
            <a:avLst/>
          </a:prstGeom>
          <a:noFill/>
        </p:spPr>
        <p:txBody>
          <a:bodyPr wrap="square">
            <a:spAutoFit/>
          </a:bodyPr>
          <a:lstStyle/>
          <a:p>
            <a:r>
              <a:rPr lang="en-US" sz="2400" dirty="0">
                <a:solidFill>
                  <a:srgbClr val="FF0000"/>
                </a:solidFill>
                <a:latin typeface="Algerian" panose="04020705040A02060702" pitchFamily="82" charset="0"/>
              </a:rPr>
              <a:t>Do TVs with longer warranties receive better ratings?</a:t>
            </a:r>
          </a:p>
        </p:txBody>
      </p:sp>
      <p:sp>
        <p:nvSpPr>
          <p:cNvPr id="9" name="TextBox 8">
            <a:extLst>
              <a:ext uri="{FF2B5EF4-FFF2-40B4-BE49-F238E27FC236}">
                <a16:creationId xmlns:a16="http://schemas.microsoft.com/office/drawing/2014/main" id="{E72195C9-5731-499A-A341-13529404AA05}"/>
              </a:ext>
            </a:extLst>
          </p:cNvPr>
          <p:cNvSpPr txBox="1"/>
          <p:nvPr/>
        </p:nvSpPr>
        <p:spPr>
          <a:xfrm>
            <a:off x="361884" y="322138"/>
            <a:ext cx="11830115" cy="461665"/>
          </a:xfrm>
          <a:prstGeom prst="rect">
            <a:avLst/>
          </a:prstGeom>
          <a:noFill/>
        </p:spPr>
        <p:txBody>
          <a:bodyPr wrap="square">
            <a:spAutoFit/>
          </a:bodyPr>
          <a:lstStyle/>
          <a:p>
            <a:r>
              <a:rPr lang="en-US" sz="2400" dirty="0">
                <a:solidFill>
                  <a:srgbClr val="FF0000"/>
                </a:solidFill>
                <a:latin typeface="Algerian" panose="04020705040A02060702" pitchFamily="82" charset="0"/>
              </a:rPr>
              <a:t>How does price vary across screen sizes within each brand?</a:t>
            </a:r>
          </a:p>
        </p:txBody>
      </p:sp>
      <p:sp>
        <p:nvSpPr>
          <p:cNvPr id="11" name="TextBox 10">
            <a:extLst>
              <a:ext uri="{FF2B5EF4-FFF2-40B4-BE49-F238E27FC236}">
                <a16:creationId xmlns:a16="http://schemas.microsoft.com/office/drawing/2014/main" id="{A6403365-5001-40C0-86B9-7EDCDD8EFA14}"/>
              </a:ext>
            </a:extLst>
          </p:cNvPr>
          <p:cNvSpPr txBox="1"/>
          <p:nvPr/>
        </p:nvSpPr>
        <p:spPr>
          <a:xfrm>
            <a:off x="5188710" y="808736"/>
            <a:ext cx="6983080" cy="2246769"/>
          </a:xfrm>
          <a:prstGeom prst="rect">
            <a:avLst/>
          </a:prstGeom>
          <a:noFill/>
        </p:spPr>
        <p:txBody>
          <a:bodyPr wrap="square" rtlCol="0">
            <a:spAutoFit/>
          </a:bodyPr>
          <a:lstStyle/>
          <a:p>
            <a:r>
              <a:rPr lang="en-GB" sz="2000" b="1" dirty="0">
                <a:latin typeface="Times New Roman" panose="02020603050405020304" pitchFamily="18" charset="0"/>
                <a:cs typeface="Times New Roman" panose="02020603050405020304" pitchFamily="18" charset="0"/>
              </a:rPr>
              <a:t>Key Insights:</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Generally, larger average screen sizes correlate with higher average prices (e.g., Acer).</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This correlation isn't perfect, as Admiral offers a 43.0" size for the lowest price in the group.</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Price isn't determined by size alone; BPL's small 39.25" TV costs more than Admiral's (43.0") and BESTON's (47.4").</a:t>
            </a:r>
          </a:p>
        </p:txBody>
      </p:sp>
      <p:sp>
        <p:nvSpPr>
          <p:cNvPr id="16" name="TextBox 15">
            <a:extLst>
              <a:ext uri="{FF2B5EF4-FFF2-40B4-BE49-F238E27FC236}">
                <a16:creationId xmlns:a16="http://schemas.microsoft.com/office/drawing/2014/main" id="{FAF7D233-8B73-4A53-9DDF-D63DECE3B562}"/>
              </a:ext>
            </a:extLst>
          </p:cNvPr>
          <p:cNvSpPr txBox="1"/>
          <p:nvPr/>
        </p:nvSpPr>
        <p:spPr>
          <a:xfrm>
            <a:off x="4847035" y="3881670"/>
            <a:ext cx="6983080" cy="2246769"/>
          </a:xfrm>
          <a:prstGeom prst="rect">
            <a:avLst/>
          </a:prstGeom>
          <a:noFill/>
        </p:spPr>
        <p:txBody>
          <a:bodyPr wrap="square">
            <a:spAutoFit/>
          </a:bodyPr>
          <a:lstStyle/>
          <a:p>
            <a:pPr algn="just"/>
            <a:r>
              <a:rPr lang="en-GB" sz="2000" b="1" dirty="0">
                <a:latin typeface="Times New Roman" panose="02020603050405020304" pitchFamily="18" charset="0"/>
                <a:cs typeface="Times New Roman" panose="02020603050405020304" pitchFamily="18" charset="0"/>
              </a:rPr>
              <a:t>Key Insights:</a:t>
            </a:r>
          </a:p>
          <a:p>
            <a:pPr marL="342900" indent="-342900" algn="just">
              <a:buFont typeface="+mj-lt"/>
              <a:buAutoNum type="arabicPeriod"/>
            </a:pPr>
            <a:r>
              <a:rPr lang="en-US" sz="2000" dirty="0">
                <a:latin typeface="Times New Roman" panose="02020603050405020304" pitchFamily="18" charset="0"/>
                <a:cs typeface="Times New Roman" panose="02020603050405020304" pitchFamily="18" charset="0"/>
              </a:rPr>
              <a:t>The data strongly suggests a link between warranty length and customer </a:t>
            </a:r>
            <a:r>
              <a:rPr lang="en-US" sz="2000" dirty="0" err="1">
                <a:latin typeface="Times New Roman" panose="02020603050405020304" pitchFamily="18" charset="0"/>
                <a:cs typeface="Times New Roman" panose="02020603050405020304" pitchFamily="18" charset="0"/>
              </a:rPr>
              <a:t>satisfaction.Short</a:t>
            </a:r>
            <a:r>
              <a:rPr lang="en-US" sz="2000" dirty="0">
                <a:latin typeface="Times New Roman" panose="02020603050405020304" pitchFamily="18" charset="0"/>
                <a:cs typeface="Times New Roman" panose="02020603050405020304" pitchFamily="18" charset="0"/>
              </a:rPr>
              <a:t>-warranty TVs (&lt;3 years) have widely spread ratings (3.0-5.0) centered around 4.2.Long-warranty TVs (≥3 years) have a higher median rating (around 4.5) and a tighter, more consistent distribution, indicating they are more reliable high-performers..</a:t>
            </a:r>
          </a:p>
        </p:txBody>
      </p:sp>
    </p:spTree>
    <p:extLst>
      <p:ext uri="{BB962C8B-B14F-4D97-AF65-F5344CB8AC3E}">
        <p14:creationId xmlns:p14="http://schemas.microsoft.com/office/powerpoint/2010/main" val="12074342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4">
            <a:extLst>
              <a:ext uri="{FF2B5EF4-FFF2-40B4-BE49-F238E27FC236}">
                <a16:creationId xmlns:a16="http://schemas.microsoft.com/office/drawing/2014/main" id="{56670AA4-D69D-41DB-B5C8-BD99A21F9F68}"/>
              </a:ext>
            </a:extLst>
          </p:cNvPr>
          <p:cNvSpPr txBox="1">
            <a:spLocks/>
          </p:cNvSpPr>
          <p:nvPr/>
        </p:nvSpPr>
        <p:spPr>
          <a:xfrm>
            <a:off x="757284" y="2679983"/>
            <a:ext cx="4131587" cy="1325563"/>
          </a:xfrm>
          <a:prstGeom prst="rect">
            <a:avLst/>
          </a:prstGeom>
          <a:noFill/>
          <a:ln>
            <a:noFill/>
          </a:ln>
        </p:spPr>
        <p:txBody>
          <a:bodyPr spcFirstLastPara="1" wrap="square" lIns="91425" tIns="45700" rIns="91425" bIns="45700" anchor="b" anchorCtr="0">
            <a:normAutofit fontScale="75000" lnSpcReduction="20000"/>
          </a:bodyPr>
          <a:lstStyle>
            <a:defPPr marR="0" lvl="0" algn="l" rtl="0">
              <a:lnSpc>
                <a:spcPct val="100000"/>
              </a:lnSpc>
              <a:spcBef>
                <a:spcPts val="0"/>
              </a:spcBef>
              <a:spcAft>
                <a:spcPts val="0"/>
              </a:spcAft>
            </a:defPPr>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5400" dirty="0">
                <a:solidFill>
                  <a:srgbClr val="C00000"/>
                </a:solidFill>
                <a:latin typeface="Algerian" panose="04020705040A02060702" pitchFamily="82" charset="0"/>
              </a:rPr>
              <a:t>MuLtiVARIATE</a:t>
            </a:r>
            <a:br>
              <a:rPr lang="en-US" sz="5400" dirty="0">
                <a:solidFill>
                  <a:srgbClr val="C00000"/>
                </a:solidFill>
                <a:latin typeface="Algerian" panose="04020705040A02060702" pitchFamily="82" charset="0"/>
              </a:rPr>
            </a:br>
            <a:r>
              <a:rPr lang="en-US" sz="5400" dirty="0">
                <a:solidFill>
                  <a:srgbClr val="C00000"/>
                </a:solidFill>
                <a:latin typeface="Algerian" panose="04020705040A02060702" pitchFamily="82" charset="0"/>
              </a:rPr>
              <a:t>ANALYSIS</a:t>
            </a:r>
          </a:p>
        </p:txBody>
      </p:sp>
    </p:spTree>
    <p:extLst>
      <p:ext uri="{BB962C8B-B14F-4D97-AF65-F5344CB8AC3E}">
        <p14:creationId xmlns:p14="http://schemas.microsoft.com/office/powerpoint/2010/main" val="2951255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1"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circle(in)">
                                      <p:cBhvr>
                                        <p:cTn id="12"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a:xfrm>
            <a:off x="582855" y="183569"/>
            <a:ext cx="11023687" cy="495441"/>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2400" b="1" dirty="0">
                <a:solidFill>
                  <a:srgbClr val="C00000"/>
                </a:solidFill>
                <a:latin typeface="Algerian" panose="04020705040A02060702" pitchFamily="82" charset="0"/>
              </a:rPr>
              <a:t>Impact of Display Type and Resolution on Price Across Top Brands</a:t>
            </a:r>
          </a:p>
        </p:txBody>
      </p:sp>
      <p:pic>
        <p:nvPicPr>
          <p:cNvPr id="2" name="Picture 1"/>
          <p:cNvPicPr>
            <a:picLocks noChangeAspect="1"/>
          </p:cNvPicPr>
          <p:nvPr/>
        </p:nvPicPr>
        <p:blipFill>
          <a:blip r:embed="rId2"/>
          <a:stretch>
            <a:fillRect/>
          </a:stretch>
        </p:blipFill>
        <p:spPr>
          <a:xfrm>
            <a:off x="86055" y="975644"/>
            <a:ext cx="7600338" cy="3431263"/>
          </a:xfrm>
          <a:prstGeom prst="rect">
            <a:avLst/>
          </a:prstGeom>
        </p:spPr>
      </p:pic>
      <p:sp>
        <p:nvSpPr>
          <p:cNvPr id="6" name="Text Placeholder 3"/>
          <p:cNvSpPr txBox="1">
            <a:spLocks/>
          </p:cNvSpPr>
          <p:nvPr/>
        </p:nvSpPr>
        <p:spPr>
          <a:xfrm>
            <a:off x="7885568" y="2537368"/>
            <a:ext cx="4037845" cy="3899646"/>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40640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L="914400" marR="0" lvl="1" indent="-381000"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L="1371600" marR="0" lvl="2" indent="-355600"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L="1828800" marR="0" lvl="3"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L="2286000" marR="0" lvl="4"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L="2743200" marR="0" lvl="5"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pPr algn="just"/>
            <a:r>
              <a:rPr lang="en-GB" sz="2000" b="1" dirty="0">
                <a:latin typeface="Times New Roman" panose="02020603050405020304" pitchFamily="18" charset="0"/>
                <a:cs typeface="Times New Roman" panose="02020603050405020304" pitchFamily="18" charset="0"/>
              </a:rPr>
              <a:t>Key Insights:</a:t>
            </a:r>
          </a:p>
          <a:p>
            <a:pPr marL="342900" indent="-342900" algn="just">
              <a:buFont typeface="+mj-lt"/>
              <a:buAutoNum type="arabicPeriod"/>
            </a:pPr>
            <a:r>
              <a:rPr lang="en-GB" sz="1600" dirty="0">
                <a:latin typeface="Times New Roman" panose="02020603050405020304" pitchFamily="18" charset="0"/>
                <a:cs typeface="Times New Roman" panose="02020603050405020304" pitchFamily="18" charset="0"/>
              </a:rPr>
              <a:t>Mini LED and OLED TVs are the most expensive.</a:t>
            </a:r>
          </a:p>
          <a:p>
            <a:pPr marL="342900" indent="-342900" algn="just">
              <a:buFont typeface="+mj-lt"/>
              <a:buAutoNum type="arabicPeriod"/>
            </a:pPr>
            <a:r>
              <a:rPr lang="en-GB" sz="1600" dirty="0">
                <a:latin typeface="Times New Roman" panose="02020603050405020304" pitchFamily="18" charset="0"/>
                <a:cs typeface="Times New Roman" panose="02020603050405020304" pitchFamily="18" charset="0"/>
              </a:rPr>
              <a:t>Sony and TCL have the highest-priced models overall.</a:t>
            </a:r>
          </a:p>
          <a:p>
            <a:pPr marL="342900" indent="-342900" algn="just">
              <a:buFont typeface="+mj-lt"/>
              <a:buAutoNum type="arabicPeriod"/>
            </a:pPr>
            <a:r>
              <a:rPr lang="en-GB" sz="1600" dirty="0">
                <a:latin typeface="Times New Roman" panose="02020603050405020304" pitchFamily="18" charset="0"/>
                <a:cs typeface="Times New Roman" panose="02020603050405020304" pitchFamily="18" charset="0"/>
              </a:rPr>
              <a:t>LG and Samsung offer both budget and premium options.</a:t>
            </a:r>
          </a:p>
          <a:p>
            <a:pPr marL="342900" indent="-342900" algn="just">
              <a:buFont typeface="+mj-lt"/>
              <a:buAutoNum type="arabicPeriod"/>
            </a:pPr>
            <a:r>
              <a:rPr lang="en-GB" sz="1600" dirty="0">
                <a:latin typeface="Times New Roman" panose="02020603050405020304" pitchFamily="18" charset="0"/>
                <a:cs typeface="Times New Roman" panose="02020603050405020304" pitchFamily="18" charset="0"/>
              </a:rPr>
              <a:t>Budget brands mostly stick to LED or QLED.</a:t>
            </a:r>
          </a:p>
          <a:p>
            <a:pPr marL="342900" indent="-342900" algn="just">
              <a:buFont typeface="+mj-lt"/>
              <a:buAutoNum type="arabicPeriod"/>
            </a:pPr>
            <a:r>
              <a:rPr lang="en-GB" sz="1600" dirty="0">
                <a:latin typeface="Times New Roman" panose="02020603050405020304" pitchFamily="18" charset="0"/>
                <a:cs typeface="Times New Roman" panose="02020603050405020304" pitchFamily="18" charset="0"/>
              </a:rPr>
              <a:t>QLED TVs are mid-range across brands.</a:t>
            </a:r>
          </a:p>
          <a:p>
            <a:pPr marL="342900" indent="-342900" algn="just">
              <a:buFont typeface="+mj-lt"/>
              <a:buAutoNum type="arabicPeriod"/>
            </a:pPr>
            <a:r>
              <a:rPr lang="en-GB" sz="1600" dirty="0">
                <a:latin typeface="Times New Roman" panose="02020603050405020304" pitchFamily="18" charset="0"/>
                <a:cs typeface="Times New Roman" panose="02020603050405020304" pitchFamily="18" charset="0"/>
              </a:rPr>
              <a:t>Display type plays a major role in pricing.</a:t>
            </a:r>
          </a:p>
        </p:txBody>
      </p:sp>
    </p:spTree>
    <p:extLst>
      <p:ext uri="{BB962C8B-B14F-4D97-AF65-F5344CB8AC3E}">
        <p14:creationId xmlns:p14="http://schemas.microsoft.com/office/powerpoint/2010/main" val="13829238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631A6-58E3-4A6D-F7B1-21B49ED37B82}"/>
              </a:ext>
            </a:extLst>
          </p:cNvPr>
          <p:cNvSpPr>
            <a:spLocks noGrp="1"/>
          </p:cNvSpPr>
          <p:nvPr>
            <p:ph type="title"/>
          </p:nvPr>
        </p:nvSpPr>
        <p:spPr>
          <a:xfrm>
            <a:off x="838200" y="365125"/>
            <a:ext cx="10685206" cy="1325563"/>
          </a:xfrm>
        </p:spPr>
        <p:txBody>
          <a:bodyPr>
            <a:normAutofit/>
          </a:bodyPr>
          <a:lstStyle/>
          <a:p>
            <a:r>
              <a:rPr lang="en-US" sz="2400" dirty="0">
                <a:solidFill>
                  <a:srgbClr val="FF0000"/>
                </a:solidFill>
                <a:latin typeface="Algerian" panose="04020705040A02060702" pitchFamily="82" charset="0"/>
                <a:cs typeface="Times New Roman" panose="02020603050405020304" pitchFamily="18" charset="0"/>
              </a:rPr>
              <a:t>Do newer TVs with premium display types and deeper discounts consistently receive higher customer ratings</a:t>
            </a:r>
            <a:endParaRPr lang="en-IN" sz="2400" dirty="0">
              <a:solidFill>
                <a:srgbClr val="FF0000"/>
              </a:solidFill>
              <a:latin typeface="Algerian" panose="04020705040A02060702" pitchFamily="82" charset="0"/>
              <a:cs typeface="Times New Roman" panose="02020603050405020304" pitchFamily="18" charset="0"/>
            </a:endParaRPr>
          </a:p>
        </p:txBody>
      </p:sp>
      <p:sp>
        <p:nvSpPr>
          <p:cNvPr id="3" name="Text Placeholder 2">
            <a:extLst>
              <a:ext uri="{FF2B5EF4-FFF2-40B4-BE49-F238E27FC236}">
                <a16:creationId xmlns:a16="http://schemas.microsoft.com/office/drawing/2014/main" id="{FD4C31EC-0765-A77A-4CC8-6B0AA6E88DAF}"/>
              </a:ext>
            </a:extLst>
          </p:cNvPr>
          <p:cNvSpPr>
            <a:spLocks noGrp="1"/>
          </p:cNvSpPr>
          <p:nvPr>
            <p:ph type="body" idx="1"/>
          </p:nvPr>
        </p:nvSpPr>
        <p:spPr/>
        <p:txBody>
          <a:bodyPr/>
          <a:lstStyle/>
          <a:p>
            <a:endParaRPr lang="en-IN" dirty="0"/>
          </a:p>
        </p:txBody>
      </p:sp>
      <p:sp>
        <p:nvSpPr>
          <p:cNvPr id="4" name="Text Placeholder 3">
            <a:extLst>
              <a:ext uri="{FF2B5EF4-FFF2-40B4-BE49-F238E27FC236}">
                <a16:creationId xmlns:a16="http://schemas.microsoft.com/office/drawing/2014/main" id="{43AF3065-39F0-342A-36F7-B3D776BA7AEC}"/>
              </a:ext>
            </a:extLst>
          </p:cNvPr>
          <p:cNvSpPr>
            <a:spLocks noGrp="1"/>
          </p:cNvSpPr>
          <p:nvPr>
            <p:ph type="body" idx="2"/>
          </p:nvPr>
        </p:nvSpPr>
        <p:spPr>
          <a:xfrm>
            <a:off x="6172200" y="1825625"/>
            <a:ext cx="5181600" cy="3208491"/>
          </a:xfrm>
        </p:spPr>
        <p:txBody>
          <a:bodyPr/>
          <a:lstStyle/>
          <a:p>
            <a:pPr marL="114300" indent="0">
              <a:buNone/>
            </a:pPr>
            <a:r>
              <a:rPr lang="en-GB" sz="2400" b="1" dirty="0">
                <a:latin typeface="Times New Roman" panose="02020603050405020304" pitchFamily="18" charset="0"/>
                <a:cs typeface="Times New Roman" panose="02020603050405020304" pitchFamily="18" charset="0"/>
              </a:rPr>
              <a:t>Key Insights:</a:t>
            </a:r>
          </a:p>
          <a:p>
            <a:pPr>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TVs with deep discounts have similar median ratings(4.1) without indicating that discounting doesn’t customer satisfaction.</a:t>
            </a:r>
          </a:p>
          <a:p>
            <a:pPr>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Premium quality drives consistent ratings both interquartile range(4.0-4.3) display quality   stable customer ratings</a:t>
            </a:r>
          </a:p>
          <a:p>
            <a:pPr marL="114300" indent="0">
              <a:buNone/>
            </a:pPr>
            <a:endParaRPr lang="en-GB" sz="2400" b="1" dirty="0">
              <a:latin typeface="Times New Roman" panose="02020603050405020304" pitchFamily="18" charset="0"/>
              <a:cs typeface="Times New Roman" panose="02020603050405020304" pitchFamily="18" charset="0"/>
            </a:endParaRPr>
          </a:p>
          <a:p>
            <a:pPr marL="114300" indent="0">
              <a:buNone/>
            </a:pPr>
            <a:endParaRPr lang="en-IN" dirty="0"/>
          </a:p>
          <a:p>
            <a:pPr marL="114300" indent="0">
              <a:buNone/>
            </a:pPr>
            <a:endParaRPr lang="en-IN" dirty="0"/>
          </a:p>
        </p:txBody>
      </p:sp>
      <p:pic>
        <p:nvPicPr>
          <p:cNvPr id="6" name="Picture 5">
            <a:extLst>
              <a:ext uri="{FF2B5EF4-FFF2-40B4-BE49-F238E27FC236}">
                <a16:creationId xmlns:a16="http://schemas.microsoft.com/office/drawing/2014/main" id="{45B68BE5-7EDC-4CF8-AA4A-C53395F29AD3}"/>
              </a:ext>
            </a:extLst>
          </p:cNvPr>
          <p:cNvPicPr>
            <a:picLocks noChangeAspect="1"/>
          </p:cNvPicPr>
          <p:nvPr/>
        </p:nvPicPr>
        <p:blipFill>
          <a:blip r:embed="rId2"/>
          <a:stretch>
            <a:fillRect/>
          </a:stretch>
        </p:blipFill>
        <p:spPr>
          <a:xfrm>
            <a:off x="609600" y="1690688"/>
            <a:ext cx="5447794" cy="4486275"/>
          </a:xfrm>
          <a:prstGeom prst="rect">
            <a:avLst/>
          </a:prstGeom>
        </p:spPr>
      </p:pic>
    </p:spTree>
    <p:extLst>
      <p:ext uri="{BB962C8B-B14F-4D97-AF65-F5344CB8AC3E}">
        <p14:creationId xmlns:p14="http://schemas.microsoft.com/office/powerpoint/2010/main" val="35333217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95B8216-8A75-4E11-943B-A4DCE08EE08A}"/>
              </a:ext>
            </a:extLst>
          </p:cNvPr>
          <p:cNvSpPr txBox="1"/>
          <p:nvPr/>
        </p:nvSpPr>
        <p:spPr>
          <a:xfrm>
            <a:off x="5888235" y="1884036"/>
            <a:ext cx="6093618" cy="3785652"/>
          </a:xfrm>
          <a:prstGeom prst="rect">
            <a:avLst/>
          </a:prstGeom>
          <a:noFill/>
        </p:spPr>
        <p:txBody>
          <a:bodyPr wrap="square">
            <a:spAutoFit/>
          </a:bodyPr>
          <a:lstStyle/>
          <a:p>
            <a:r>
              <a:rPr lang="en-GB" sz="2000" b="1" dirty="0">
                <a:latin typeface="Times New Roman" panose="02020603050405020304" pitchFamily="18" charset="0"/>
                <a:cs typeface="Times New Roman" panose="02020603050405020304" pitchFamily="18" charset="0"/>
              </a:rPr>
              <a:t>Key Insights:</a:t>
            </a:r>
          </a:p>
          <a:p>
            <a:pPr algn="l"/>
            <a:r>
              <a:rPr lang="en-US" sz="2000" b="0" i="0" dirty="0">
                <a:effectLst/>
                <a:latin typeface="Times New Roman" panose="02020603050405020304" pitchFamily="18" charset="0"/>
                <a:cs typeface="Times New Roman" panose="02020603050405020304" pitchFamily="18" charset="0"/>
              </a:rPr>
              <a:t>This analysis, which was limited to the first 10 brand-year combinations in the data (primarily </a:t>
            </a:r>
            <a:r>
              <a:rPr lang="en-US" sz="2000" b="0" i="0" dirty="0" err="1">
                <a:effectLst/>
                <a:latin typeface="Times New Roman" panose="02020603050405020304" pitchFamily="18" charset="0"/>
                <a:cs typeface="Times New Roman" panose="02020603050405020304" pitchFamily="18" charset="0"/>
              </a:rPr>
              <a:t>Adsun</a:t>
            </a:r>
            <a:r>
              <a:rPr lang="en-US" sz="2000" b="0" i="0" dirty="0">
                <a:effectLst/>
                <a:latin typeface="Times New Roman" panose="02020603050405020304" pitchFamily="18" charset="0"/>
                <a:cs typeface="Times New Roman" panose="02020603050405020304" pitchFamily="18" charset="0"/>
              </a:rPr>
              <a:t>, BPL, and </a:t>
            </a:r>
            <a:r>
              <a:rPr lang="en-US" sz="2000" b="0" i="0" dirty="0" err="1">
                <a:effectLst/>
                <a:latin typeface="Times New Roman" panose="02020603050405020304" pitchFamily="18" charset="0"/>
                <a:cs typeface="Times New Roman" panose="02020603050405020304" pitchFamily="18" charset="0"/>
              </a:rPr>
              <a:t>Blaupunkt</a:t>
            </a:r>
            <a:r>
              <a:rPr lang="en-US" sz="2000" b="0" i="0" dirty="0">
                <a:effectLst/>
                <a:latin typeface="Times New Roman" panose="02020603050405020304" pitchFamily="18" charset="0"/>
                <a:cs typeface="Times New Roman" panose="02020603050405020304" pitchFamily="18" charset="0"/>
              </a:rPr>
              <a:t>), shows:</a:t>
            </a:r>
          </a:p>
          <a:p>
            <a:pPr algn="l"/>
            <a:endParaRPr lang="en-US" sz="2000" b="0" i="0" dirty="0">
              <a:effectLst/>
              <a:latin typeface="Times New Roman" panose="02020603050405020304" pitchFamily="18" charset="0"/>
              <a:cs typeface="Times New Roman" panose="02020603050405020304" pitchFamily="18" charset="0"/>
            </a:endParaRPr>
          </a:p>
          <a:p>
            <a:pPr marL="342900" indent="-342900" algn="l">
              <a:buFont typeface="+mj-lt"/>
              <a:buAutoNum type="arabicPeriod"/>
            </a:pPr>
            <a:r>
              <a:rPr lang="en-US" sz="2000" b="0" i="0" dirty="0">
                <a:effectLst/>
                <a:latin typeface="Times New Roman" panose="02020603050405020304" pitchFamily="18" charset="0"/>
                <a:cs typeface="Times New Roman" panose="02020603050405020304" pitchFamily="18" charset="0"/>
              </a:rPr>
              <a:t>BPL demonstrated strong, consistent satisfaction, with its average rating holding steady around 4.2-4.3 between 2018 and 2021.</a:t>
            </a:r>
          </a:p>
          <a:p>
            <a:pPr marL="342900" indent="-342900" algn="l">
              <a:buFont typeface="+mj-lt"/>
              <a:buAutoNum type="arabicPeriod"/>
            </a:pPr>
            <a:r>
              <a:rPr lang="en-US" sz="2000" b="0" i="0" dirty="0" err="1">
                <a:effectLst/>
                <a:latin typeface="Times New Roman" panose="02020603050405020304" pitchFamily="18" charset="0"/>
                <a:cs typeface="Times New Roman" panose="02020603050405020304" pitchFamily="18" charset="0"/>
              </a:rPr>
              <a:t>Blaupunkt</a:t>
            </a:r>
            <a:r>
              <a:rPr lang="en-US" sz="2000" b="0" i="0" dirty="0">
                <a:effectLst/>
                <a:latin typeface="Times New Roman" panose="02020603050405020304" pitchFamily="18" charset="0"/>
                <a:cs typeface="Times New Roman" panose="02020603050405020304" pitchFamily="18" charset="0"/>
              </a:rPr>
              <a:t> also showed high consistency in its 2021 and 2022 models, with ratings around 4.3-4.4.</a:t>
            </a:r>
          </a:p>
          <a:p>
            <a:pPr marL="342900" indent="-342900" algn="l">
              <a:buFont typeface="+mj-lt"/>
              <a:buAutoNum type="arabicPeriod"/>
            </a:pPr>
            <a:r>
              <a:rPr lang="en-US" sz="2000" b="0" i="0" dirty="0" err="1">
                <a:effectLst/>
                <a:latin typeface="Times New Roman" panose="02020603050405020304" pitchFamily="18" charset="0"/>
                <a:cs typeface="Times New Roman" panose="02020603050405020304" pitchFamily="18" charset="0"/>
              </a:rPr>
              <a:t>Adsun</a:t>
            </a:r>
            <a:r>
              <a:rPr lang="en-US" sz="2000" b="0" i="0" dirty="0">
                <a:effectLst/>
                <a:latin typeface="Times New Roman" panose="02020603050405020304" pitchFamily="18" charset="0"/>
                <a:cs typeface="Times New Roman" panose="02020603050405020304" pitchFamily="18" charset="0"/>
              </a:rPr>
              <a:t> experienced a slight decline in average ratings from 2019 to 2021.</a:t>
            </a:r>
          </a:p>
        </p:txBody>
      </p:sp>
      <p:pic>
        <p:nvPicPr>
          <p:cNvPr id="8" name="Picture 7">
            <a:extLst>
              <a:ext uri="{FF2B5EF4-FFF2-40B4-BE49-F238E27FC236}">
                <a16:creationId xmlns:a16="http://schemas.microsoft.com/office/drawing/2014/main" id="{F4F74CF1-C6C3-4847-9A13-23C3CFA1B1BA}"/>
              </a:ext>
            </a:extLst>
          </p:cNvPr>
          <p:cNvPicPr>
            <a:picLocks noChangeAspect="1"/>
          </p:cNvPicPr>
          <p:nvPr/>
        </p:nvPicPr>
        <p:blipFill>
          <a:blip r:embed="rId2"/>
          <a:stretch>
            <a:fillRect/>
          </a:stretch>
        </p:blipFill>
        <p:spPr>
          <a:xfrm>
            <a:off x="431227" y="909437"/>
            <a:ext cx="5250436" cy="2867425"/>
          </a:xfrm>
          <a:prstGeom prst="rect">
            <a:avLst/>
          </a:prstGeom>
        </p:spPr>
      </p:pic>
      <p:sp>
        <p:nvSpPr>
          <p:cNvPr id="10" name="TextBox 9">
            <a:extLst>
              <a:ext uri="{FF2B5EF4-FFF2-40B4-BE49-F238E27FC236}">
                <a16:creationId xmlns:a16="http://schemas.microsoft.com/office/drawing/2014/main" id="{3E9A1814-24CF-4E7D-832B-187F643C7D30}"/>
              </a:ext>
            </a:extLst>
          </p:cNvPr>
          <p:cNvSpPr txBox="1"/>
          <p:nvPr/>
        </p:nvSpPr>
        <p:spPr>
          <a:xfrm>
            <a:off x="289322" y="201551"/>
            <a:ext cx="11197827" cy="707886"/>
          </a:xfrm>
          <a:prstGeom prst="rect">
            <a:avLst/>
          </a:prstGeom>
          <a:noFill/>
        </p:spPr>
        <p:txBody>
          <a:bodyPr wrap="square">
            <a:spAutoFit/>
          </a:bodyPr>
          <a:lstStyle/>
          <a:p>
            <a:r>
              <a:rPr lang="en-US" sz="2000" dirty="0">
                <a:solidFill>
                  <a:srgbClr val="FF0000"/>
                </a:solidFill>
                <a:latin typeface="Algerian" panose="04020705040A02060702" pitchFamily="82" charset="0"/>
              </a:rPr>
              <a:t>Which combination of brand, launch year, and rating reveals consistent customer satisfaction over time?</a:t>
            </a:r>
          </a:p>
        </p:txBody>
      </p:sp>
    </p:spTree>
    <p:extLst>
      <p:ext uri="{BB962C8B-B14F-4D97-AF65-F5344CB8AC3E}">
        <p14:creationId xmlns:p14="http://schemas.microsoft.com/office/powerpoint/2010/main" val="27447351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83D65-9237-47A4-B27C-8D8068CB2BD5}"/>
              </a:ext>
            </a:extLst>
          </p:cNvPr>
          <p:cNvSpPr>
            <a:spLocks noGrp="1"/>
          </p:cNvSpPr>
          <p:nvPr>
            <p:ph type="title"/>
          </p:nvPr>
        </p:nvSpPr>
        <p:spPr/>
        <p:txBody>
          <a:bodyPr>
            <a:normAutofit/>
          </a:bodyPr>
          <a:lstStyle/>
          <a:p>
            <a:r>
              <a:rPr lang="en-US" sz="3600" dirty="0">
                <a:solidFill>
                  <a:srgbClr val="FF0000"/>
                </a:solidFill>
                <a:latin typeface="Algerian" panose="04020705040A02060702" pitchFamily="82" charset="0"/>
              </a:rPr>
              <a:t>conclusion</a:t>
            </a:r>
          </a:p>
        </p:txBody>
      </p:sp>
      <p:sp>
        <p:nvSpPr>
          <p:cNvPr id="3" name="Text Placeholder 2">
            <a:extLst>
              <a:ext uri="{FF2B5EF4-FFF2-40B4-BE49-F238E27FC236}">
                <a16:creationId xmlns:a16="http://schemas.microsoft.com/office/drawing/2014/main" id="{217EFD1E-9D3E-481C-93DF-80D704581261}"/>
              </a:ext>
            </a:extLst>
          </p:cNvPr>
          <p:cNvSpPr>
            <a:spLocks noGrp="1"/>
          </p:cNvSpPr>
          <p:nvPr>
            <p:ph type="body" idx="1"/>
          </p:nvPr>
        </p:nvSpPr>
        <p:spPr>
          <a:xfrm>
            <a:off x="838200" y="1825625"/>
            <a:ext cx="10515600" cy="4351338"/>
          </a:xfrm>
        </p:spPr>
        <p:txBody>
          <a:bodyPr>
            <a:normAutofit/>
          </a:bodyPr>
          <a:lstStyle/>
          <a:p>
            <a:pPr algn="just"/>
            <a:r>
              <a:rPr lang="en-US" sz="2400" dirty="0">
                <a:latin typeface="Times New Roman" panose="02020603050405020304" pitchFamily="18" charset="0"/>
                <a:cs typeface="Times New Roman" panose="02020603050405020304" pitchFamily="18" charset="0"/>
              </a:rPr>
              <a:t>Our analysis of </a:t>
            </a:r>
            <a:r>
              <a:rPr lang="en-US" sz="2400" b="1" dirty="0">
                <a:latin typeface="Times New Roman" panose="02020603050405020304" pitchFamily="18" charset="0"/>
                <a:cs typeface="Times New Roman" panose="02020603050405020304" pitchFamily="18" charset="0"/>
              </a:rPr>
              <a:t>616</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Flipkart Smart TVs </a:t>
            </a:r>
            <a:r>
              <a:rPr lang="en-US" sz="2400" dirty="0">
                <a:latin typeface="Times New Roman" panose="02020603050405020304" pitchFamily="18" charset="0"/>
                <a:cs typeface="Times New Roman" panose="02020603050405020304" pitchFamily="18" charset="0"/>
              </a:rPr>
              <a:t>shows the market is dominated by </a:t>
            </a:r>
            <a:r>
              <a:rPr lang="en-US" sz="2400" b="1" dirty="0">
                <a:latin typeface="Times New Roman" panose="02020603050405020304" pitchFamily="18" charset="0"/>
                <a:cs typeface="Times New Roman" panose="02020603050405020304" pitchFamily="18" charset="0"/>
              </a:rPr>
              <a:t>budget-friendly (&lt;\₹50K) LED models</a:t>
            </a:r>
            <a:r>
              <a:rPr lang="en-US" sz="2400" dirty="0">
                <a:latin typeface="Times New Roman" panose="02020603050405020304" pitchFamily="18" charset="0"/>
                <a:cs typeface="Times New Roman" panose="02020603050405020304" pitchFamily="18" charset="0"/>
              </a:rPr>
              <a:t>, with a heavy focus on recent </a:t>
            </a:r>
            <a:r>
              <a:rPr lang="en-US" sz="2400" b="1" dirty="0">
                <a:latin typeface="Times New Roman" panose="02020603050405020304" pitchFamily="18" charset="0"/>
                <a:cs typeface="Times New Roman" panose="02020603050405020304" pitchFamily="18" charset="0"/>
              </a:rPr>
              <a:t>2024-2025 launches</a:t>
            </a:r>
            <a:r>
              <a:rPr lang="en-US" sz="2400" dirty="0">
                <a:latin typeface="Times New Roman" panose="02020603050405020304" pitchFamily="18" charset="0"/>
                <a:cs typeface="Times New Roman" panose="02020603050405020304" pitchFamily="18" charset="0"/>
              </a:rPr>
              <a:t>. The biggest price driver is </a:t>
            </a:r>
            <a:r>
              <a:rPr lang="en-US" sz="2400" b="1" dirty="0">
                <a:latin typeface="Times New Roman" panose="02020603050405020304" pitchFamily="18" charset="0"/>
                <a:cs typeface="Times New Roman" panose="02020603050405020304" pitchFamily="18" charset="0"/>
              </a:rPr>
              <a:t>display technology</a:t>
            </a:r>
            <a:r>
              <a:rPr lang="en-US" sz="2400" dirty="0">
                <a:latin typeface="Times New Roman" panose="02020603050405020304" pitchFamily="18" charset="0"/>
                <a:cs typeface="Times New Roman" panose="02020603050405020304" pitchFamily="18" charset="0"/>
              </a:rPr>
              <a:t>, where premium </a:t>
            </a:r>
            <a:r>
              <a:rPr lang="en-US" sz="2400" b="1" dirty="0">
                <a:latin typeface="Times New Roman" panose="02020603050405020304" pitchFamily="18" charset="0"/>
                <a:cs typeface="Times New Roman" panose="02020603050405020304" pitchFamily="18" charset="0"/>
              </a:rPr>
              <a:t>Mini LED and OLED cost the most</a:t>
            </a:r>
            <a:r>
              <a:rPr lang="en-US" sz="2400" dirty="0">
                <a:latin typeface="Times New Roman" panose="02020603050405020304" pitchFamily="18" charset="0"/>
                <a:cs typeface="Times New Roman" panose="02020603050405020304" pitchFamily="18" charset="0"/>
              </a:rPr>
              <a:t>. While 20W is the standard audio output, </a:t>
            </a:r>
            <a:r>
              <a:rPr lang="en-US" sz="2400" b="1" dirty="0">
                <a:latin typeface="Times New Roman" panose="02020603050405020304" pitchFamily="18" charset="0"/>
                <a:cs typeface="Times New Roman" panose="02020603050405020304" pitchFamily="18" charset="0"/>
              </a:rPr>
              <a:t>larger screens (55"+) consistently offer higher-powered sound</a:t>
            </a:r>
            <a:r>
              <a:rPr lang="en-US" sz="2400" dirty="0">
                <a:latin typeface="Times New Roman" panose="02020603050405020304" pitchFamily="18" charset="0"/>
                <a:cs typeface="Times New Roman" panose="02020603050405020304" pitchFamily="18" charset="0"/>
              </a:rPr>
              <a:t>. Customer satisfaction is </a:t>
            </a:r>
            <a:r>
              <a:rPr lang="en-US" sz="2400" b="1" dirty="0">
                <a:latin typeface="Times New Roman" panose="02020603050405020304" pitchFamily="18" charset="0"/>
                <a:cs typeface="Times New Roman" panose="02020603050405020304" pitchFamily="18" charset="0"/>
              </a:rPr>
              <a:t>overwhelmingly high</a:t>
            </a:r>
            <a:r>
              <a:rPr lang="en-US" sz="2400" dirty="0">
                <a:latin typeface="Times New Roman" panose="02020603050405020304" pitchFamily="18" charset="0"/>
                <a:cs typeface="Times New Roman" panose="02020603050405020304" pitchFamily="18" charset="0"/>
              </a:rPr>
              <a:t> (most ratings 3.8-5.0), and we found a strong link between </a:t>
            </a:r>
            <a:r>
              <a:rPr lang="en-US" sz="2400" b="1" dirty="0">
                <a:latin typeface="Times New Roman" panose="02020603050405020304" pitchFamily="18" charset="0"/>
                <a:cs typeface="Times New Roman" panose="02020603050405020304" pitchFamily="18" charset="0"/>
              </a:rPr>
              <a:t>longer warranties (3+ years) and higher, more consistent ratings</a:t>
            </a: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4306405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C00000"/>
              </a:buClr>
              <a:buSzPts val="4400"/>
              <a:buFont typeface="Libre Baskerville"/>
              <a:buNone/>
            </a:pPr>
            <a:r>
              <a:rPr lang="en-IN" sz="4400" b="0" i="0" u="none" strike="noStrike" cap="none" dirty="0">
                <a:solidFill>
                  <a:srgbClr val="C00000"/>
                </a:solidFill>
                <a:latin typeface="Algerian" panose="04020705040A02060702" pitchFamily="82" charset="0"/>
                <a:ea typeface="Libre Baskerville"/>
                <a:cs typeface="Libre Baskerville"/>
                <a:sym typeface="Libre Baskerville"/>
              </a:rPr>
              <a:t>THANK YOU</a:t>
            </a:r>
            <a:endParaRPr sz="1800" b="0" i="0" u="none" strike="noStrike" cap="none" dirty="0">
              <a:solidFill>
                <a:schemeClr val="dk1"/>
              </a:solidFill>
              <a:latin typeface="Algerian" panose="04020705040A02060702" pitchFamily="82" charset="0"/>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7"/>
                                        </p:tgtEl>
                                        <p:attrNameLst>
                                          <p:attrName>style.visibility</p:attrName>
                                        </p:attrNameLst>
                                      </p:cBhvr>
                                      <p:to>
                                        <p:strVal val="visible"/>
                                      </p:to>
                                    </p:set>
                                    <p:animEffect transition="in" filter="barn(inVertical)">
                                      <p:cBhvr>
                                        <p:cTn id="7" dur="500"/>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 grpId="0"/>
    </p:bld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646</TotalTime>
  <Words>1755</Words>
  <Application>Microsoft Office PowerPoint</Application>
  <PresentationFormat>Widescreen</PresentationFormat>
  <Paragraphs>170</Paragraphs>
  <Slides>25</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Eras Medium ITC</vt:lpstr>
      <vt:lpstr>Calibri</vt:lpstr>
      <vt:lpstr>Algerian</vt:lpstr>
      <vt:lpstr>Wingdings</vt:lpstr>
      <vt:lpstr>Libre Baskerville</vt:lpstr>
      <vt:lpstr>Tahoma</vt:lpstr>
      <vt:lpstr>Inter</vt:lpstr>
      <vt:lpstr>Arial</vt:lpstr>
      <vt:lpstr>Times New Roman</vt:lpstr>
      <vt:lpstr>Office Theme</vt:lpstr>
      <vt:lpstr>PowerPoint Presentation</vt:lpstr>
      <vt:lpstr>PowerPoint Presentation</vt:lpstr>
      <vt:lpstr>AGENDA</vt:lpstr>
      <vt:lpstr>Objective of the Project</vt:lpstr>
      <vt:lpstr> Web Scraping Methodology: Process                   Overview </vt:lpstr>
      <vt:lpstr>PROCESS FOLLOWED:</vt:lpstr>
      <vt:lpstr>PowerPoint Presentation</vt:lpstr>
      <vt:lpstr>Key Dataset Attributes</vt:lpstr>
      <vt:lpstr>EXPLORATORY DATA ANALYSIS</vt:lpstr>
      <vt:lpstr>PowerPoint Presentation</vt:lpstr>
      <vt:lpstr>UNIVARIATE ANALYSIS</vt:lpstr>
      <vt:lpstr>Smart TV Price Distribution Across Market Segments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Do newer TVs with premium display types and deeper discounts consistently receive higher customer ratings</vt:lpstr>
      <vt:lpstr>PowerPoint Presentation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USER</cp:lastModifiedBy>
  <cp:revision>52</cp:revision>
  <dcterms:created xsi:type="dcterms:W3CDTF">2021-02-16T05:19:01Z</dcterms:created>
  <dcterms:modified xsi:type="dcterms:W3CDTF">2025-11-08T05:48:17Z</dcterms:modified>
</cp:coreProperties>
</file>